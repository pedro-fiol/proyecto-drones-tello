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5240000" cy="8572500"/>
  <p:notesSz cx="85725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11" y="709273"/>
            <a:ext cx="85612" cy="85612"/>
          </a:xfrm>
          <a:prstGeom prst="ellipse">
            <a:avLst/>
          </a:prstGeom>
          <a:solidFill>
            <a:srgbClr val="00B65A"/>
          </a:solidFill>
          <a:ln/>
          <a:effectLst>
            <a:outerShdw sx="100000" sy="100000" kx="0" ky="0" algn="bl" rotWithShape="0" blurRad="101600" dist="50800" dir="16200000">
              <a:srgbClr val="00B65A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42484" y="685649"/>
            <a:ext cx="2663502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STATUS · OPERATOR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310243" y="685649"/>
            <a:ext cx="1244146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DEFENSA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668000" y="2095311"/>
            <a:ext cx="5714811" cy="5714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811" y="2257085"/>
            <a:ext cx="14127869" cy="2756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700" b="1" spc="-643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Tello Interceptor</a:t>
            </a:r>
            <a:pPr algn="l" indent="0" marL="0">
              <a:lnSpc>
                <a:spcPct val="90000"/>
              </a:lnSpc>
              <a:buNone/>
            </a:pPr>
            <a:r>
              <a:rPr lang="en-US" sz="6900" b="1" spc="-64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1700" dirty="0"/>
          </a:p>
        </p:txBody>
      </p:sp>
      <p:sp>
        <p:nvSpPr>
          <p:cNvPr id="7" name="Text 4"/>
          <p:cNvSpPr/>
          <p:nvPr/>
        </p:nvSpPr>
        <p:spPr>
          <a:xfrm>
            <a:off x="761811" y="5242152"/>
            <a:ext cx="8829480" cy="65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 autónoma indoor con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spc="-18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layer </a:t>
            </a:r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spc="-18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</a:t>
            </a:r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spc="-18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 multi-cliente </a:t>
            </a:r>
            <a:pPr algn="l" indent="0" marL="0">
              <a:lnSpc>
                <a:spcPct val="135000"/>
              </a:lnSpc>
              <a:buNone/>
            </a:pPr>
            <a:r>
              <a:rPr lang="en-US" sz="1800" spc="-1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1811" y="6202212"/>
            <a:ext cx="2836334" cy="383646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5318" y="6355859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97643" y="6309368"/>
            <a:ext cx="2393194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STATUS · PHASE 12 (70%)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3693205" y="6202212"/>
            <a:ext cx="2013857" cy="383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76713" y="6355859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13" name="Text 10"/>
          <p:cNvSpPr/>
          <p:nvPr/>
        </p:nvSpPr>
        <p:spPr>
          <a:xfrm>
            <a:off x="4029037" y="6309368"/>
            <a:ext cx="1570718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DJI ROBOMASTER TT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5802124" y="6202212"/>
            <a:ext cx="2465728" cy="383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5631" y="6355859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16" name="Text 13"/>
          <p:cNvSpPr/>
          <p:nvPr/>
        </p:nvSpPr>
        <p:spPr>
          <a:xfrm>
            <a:off x="6137955" y="6309368"/>
            <a:ext cx="2022589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YOLOV8S-POSE · BOT-SORT</a:t>
            </a:r>
            <a:endParaRPr lang="en-US" sz="975" dirty="0"/>
          </a:p>
        </p:txBody>
      </p:sp>
      <p:sp>
        <p:nvSpPr>
          <p:cNvPr id="17" name="Shape 14"/>
          <p:cNvSpPr/>
          <p:nvPr/>
        </p:nvSpPr>
        <p:spPr>
          <a:xfrm>
            <a:off x="8362913" y="6202212"/>
            <a:ext cx="1473351" cy="383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46420" y="6355859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19" name="Text 16"/>
          <p:cNvSpPr/>
          <p:nvPr/>
        </p:nvSpPr>
        <p:spPr>
          <a:xfrm>
            <a:off x="8698744" y="6309368"/>
            <a:ext cx="1030212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WS</a:t>
            </a:r>
            <a:endParaRPr lang="en-US" sz="975" dirty="0"/>
          </a:p>
        </p:txBody>
      </p:sp>
      <p:sp>
        <p:nvSpPr>
          <p:cNvPr id="20" name="Shape 17"/>
          <p:cNvSpPr/>
          <p:nvPr/>
        </p:nvSpPr>
        <p:spPr>
          <a:xfrm>
            <a:off x="761811" y="7452935"/>
            <a:ext cx="13716378" cy="12095"/>
          </a:xfrm>
          <a:prstGeom prst="rect">
            <a:avLst/>
          </a:prstGeom>
          <a:solidFill>
            <a:srgbClr val="D6D6DA"/>
          </a:solidFill>
          <a:ln/>
        </p:spPr>
      </p:sp>
      <p:sp>
        <p:nvSpPr>
          <p:cNvPr id="21" name="Text 18"/>
          <p:cNvSpPr/>
          <p:nvPr/>
        </p:nvSpPr>
        <p:spPr>
          <a:xfrm>
            <a:off x="761811" y="7674429"/>
            <a:ext cx="2699125" cy="243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proyecto · Pilotatge de Drons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1811" y="7918035"/>
            <a:ext cx="3369720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UNIVERSITAT POLITÈCNICA DE CATALUNYA · AEROS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3173378" y="7683312"/>
            <a:ext cx="1304812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825" spc="11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SLIDES · 5 MIN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3173378" y="7861149"/>
            <a:ext cx="1304812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70000"/>
              </a:lnSpc>
              <a:buNone/>
            </a:pPr>
            <a:r>
              <a:rPr lang="en-US" sz="825" b="1" spc="11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 </a:t>
            </a:r>
            <a:pPr algn="r" indent="0" marL="0">
              <a:lnSpc>
                <a:spcPct val="170000"/>
              </a:lnSpc>
              <a:buNone/>
            </a:pPr>
            <a:r>
              <a:rPr lang="en-US" sz="825" spc="11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PORTADA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4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4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4"/>
            <a:ext cx="244157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MISIÓN · ARQUITECTURA EN CAPAS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4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4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intercept indoor, un solo objetivo.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34016"/>
            <a:ext cx="11772706" cy="602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b="1" spc="-8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Decoupling estricto entre capas </a:t>
            </a:r>
            <a:pPr algn="l" indent="0" marL="0">
              <a:lnSpc>
                <a:spcPct val="145000"/>
              </a:lnSpc>
              <a:buNone/>
            </a:pPr>
            <a:r>
              <a:rPr lang="en-US" sz="1500" spc="-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una se testea aislada, los fallos tienen culpable identificable. El bucle vive en 3 hilos Python coordinados por </a:t>
            </a:r>
            <a:pPr algn="l" indent="0" marL="0">
              <a:lnSpc>
                <a:spcPct val="145000"/>
              </a:lnSpc>
              <a:buNone/>
            </a:pPr>
            <a:r>
              <a:rPr lang="en-US" sz="1500" spc="-8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_sdk_lock</a:t>
            </a:r>
            <a:pPr algn="l" indent="0" marL="0">
              <a:lnSpc>
                <a:spcPct val="145000"/>
              </a:lnSpc>
              <a:buNone/>
            </a:pPr>
            <a:r>
              <a:rPr lang="en-US" sz="1500" spc="-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percepción a 30 Hz, decisión inline en el video loop, control RC a 20 Hz.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364997"/>
            <a:ext cx="4419676" cy="5167124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9156" y="2605579"/>
            <a:ext cx="401734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69156" y="2840680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9156" y="3274786"/>
            <a:ext cx="4017346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+ reidentificación de personas a partir del frame BGR del Tello. Salida: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list[Person]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keypoints, bbox y track_id estable.</a:t>
            </a:r>
            <a:endParaRPr lang="en-US" sz="1013" dirty="0"/>
          </a:p>
        </p:txBody>
      </p:sp>
      <p:sp>
        <p:nvSpPr>
          <p:cNvPr id="12" name="Shape 10"/>
          <p:cNvSpPr/>
          <p:nvPr/>
        </p:nvSpPr>
        <p:spPr>
          <a:xfrm>
            <a:off x="869156" y="6571872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13" name="Text 11"/>
          <p:cNvSpPr/>
          <p:nvPr/>
        </p:nvSpPr>
        <p:spPr>
          <a:xfrm>
            <a:off x="869156" y="6698116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YOLOv8s-pose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BoT-SORT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869156" y="6918099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keypoints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nose · eyes · ears · shoulders</a:t>
            </a:r>
            <a:endParaRPr lang="en-US" sz="863" dirty="0"/>
          </a:p>
        </p:txBody>
      </p:sp>
      <p:sp>
        <p:nvSpPr>
          <p:cNvPr id="15" name="Text 13"/>
          <p:cNvSpPr/>
          <p:nvPr/>
        </p:nvSpPr>
        <p:spPr>
          <a:xfrm>
            <a:off x="869156" y="7138081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track_id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persist=True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4991063" y="2364997"/>
            <a:ext cx="457011" cy="520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409974" y="2364997"/>
            <a:ext cx="4419865" cy="5167124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643" y="2605579"/>
            <a:ext cx="401754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02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669643" y="2840680"/>
            <a:ext cx="4017541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643" y="3274786"/>
            <a:ext cx="4017541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scripted: selecciona objetivo y modo de vuelo según visibilidad, identidad y entradas del operador.</a:t>
            </a:r>
            <a:endParaRPr lang="en-US" sz="1013" dirty="0"/>
          </a:p>
        </p:txBody>
      </p:sp>
      <p:sp>
        <p:nvSpPr>
          <p:cNvPr id="21" name="Shape 19"/>
          <p:cNvSpPr/>
          <p:nvPr/>
        </p:nvSpPr>
        <p:spPr>
          <a:xfrm>
            <a:off x="5669643" y="6351890"/>
            <a:ext cx="3900525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643" y="6478134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takeoff / land</a:t>
            </a:r>
            <a:endParaRPr lang="en-US" sz="863" dirty="0"/>
          </a:p>
        </p:txBody>
      </p:sp>
      <p:sp>
        <p:nvSpPr>
          <p:cNvPr id="23" name="Text 21"/>
          <p:cNvSpPr/>
          <p:nvPr/>
        </p:nvSpPr>
        <p:spPr>
          <a:xfrm>
            <a:off x="5669643" y="6698116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intercepting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hover</a:t>
            </a:r>
            <a:endParaRPr lang="en-US" sz="863" dirty="0"/>
          </a:p>
        </p:txBody>
      </p:sp>
      <p:sp>
        <p:nvSpPr>
          <p:cNvPr id="24" name="Text 22"/>
          <p:cNvSpPr/>
          <p:nvPr/>
        </p:nvSpPr>
        <p:spPr>
          <a:xfrm>
            <a:off x="5669643" y="6918099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 → advance</a:t>
            </a:r>
            <a:endParaRPr lang="en-US" sz="863" dirty="0"/>
          </a:p>
        </p:txBody>
      </p:sp>
      <p:sp>
        <p:nvSpPr>
          <p:cNvPr id="25" name="Text 23"/>
          <p:cNvSpPr/>
          <p:nvPr/>
        </p:nvSpPr>
        <p:spPr>
          <a:xfrm>
            <a:off x="5669643" y="7138081"/>
            <a:ext cx="4017541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dpad override</a:t>
            </a:r>
            <a:endParaRPr lang="en-US" sz="863" dirty="0"/>
          </a:p>
        </p:txBody>
      </p:sp>
      <p:sp>
        <p:nvSpPr>
          <p:cNvPr id="26" name="Text 24"/>
          <p:cNvSpPr/>
          <p:nvPr/>
        </p:nvSpPr>
        <p:spPr>
          <a:xfrm>
            <a:off x="9791738" y="2364997"/>
            <a:ext cx="457011" cy="5205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0210649" y="2364997"/>
            <a:ext cx="4419676" cy="5167124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70318" y="2605579"/>
            <a:ext cx="401734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03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0470318" y="2840680"/>
            <a:ext cx="4017346" cy="358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spc="-7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470318" y="3274786"/>
            <a:ext cx="4017346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PID discretos generan los 4 ejes RC. Capas de seguridad clamp altitud, ToF y dropout antes del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send_rc_control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13" dirty="0"/>
          </a:p>
        </p:txBody>
      </p:sp>
      <p:sp>
        <p:nvSpPr>
          <p:cNvPr id="31" name="Shape 29"/>
          <p:cNvSpPr/>
          <p:nvPr/>
        </p:nvSpPr>
        <p:spPr>
          <a:xfrm>
            <a:off x="10470318" y="6571872"/>
            <a:ext cx="3900336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0318" y="6698116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PID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· yaw · pitch ToF / bbox · roll</a:t>
            </a:r>
            <a:endParaRPr lang="en-US" sz="863" dirty="0"/>
          </a:p>
        </p:txBody>
      </p:sp>
      <p:sp>
        <p:nvSpPr>
          <p:cNvPr id="33" name="Text 31"/>
          <p:cNvSpPr/>
          <p:nvPr/>
        </p:nvSpPr>
        <p:spPr>
          <a:xfrm>
            <a:off x="10470318" y="6918099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Hz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 loop</a:t>
            </a:r>
            <a:endParaRPr lang="en-US" sz="863" dirty="0"/>
          </a:p>
        </p:txBody>
      </p:sp>
      <p:sp>
        <p:nvSpPr>
          <p:cNvPr id="34" name="Text 32"/>
          <p:cNvSpPr/>
          <p:nvPr/>
        </p:nvSpPr>
        <p:spPr>
          <a:xfrm>
            <a:off x="10470318" y="7138081"/>
            <a:ext cx="4017346" cy="191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b="1" spc="35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capas safety </a:t>
            </a:r>
            <a:pPr algn="l" indent="0" marL="0">
              <a:lnSpc>
                <a:spcPct val="140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clamp · wall · freeze</a:t>
            </a:r>
            <a:endParaRPr lang="en-US" sz="863" dirty="0"/>
          </a:p>
        </p:txBody>
      </p:sp>
      <p:sp>
        <p:nvSpPr>
          <p:cNvPr id="35" name="Shape 33"/>
          <p:cNvSpPr/>
          <p:nvPr/>
        </p:nvSpPr>
        <p:spPr>
          <a:xfrm>
            <a:off x="609487" y="7741519"/>
            <a:ext cx="14021027" cy="12095"/>
          </a:xfrm>
          <a:prstGeom prst="rect">
            <a:avLst/>
          </a:prstGeom>
          <a:solidFill>
            <a:srgbClr val="D6D6DA"/>
          </a:solidFill>
          <a:ln/>
        </p:spPr>
      </p:sp>
      <p:sp>
        <p:nvSpPr>
          <p:cNvPr id="36" name="Text 34"/>
          <p:cNvSpPr/>
          <p:nvPr/>
        </p:nvSpPr>
        <p:spPr>
          <a:xfrm>
            <a:off x="609487" y="7905939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SOPORTE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94757" y="7905939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06991" y="7905939"/>
            <a:ext cx="86465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DJITELLOPY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28686" y="7905939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40920" y="7905939"/>
            <a:ext cx="785850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83807" y="7905939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96040" y="7905939"/>
            <a:ext cx="31281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065890" y="7905939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78124" y="7905939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63395" y="7905939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75628" y="7905939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974600" y="7905939"/>
            <a:ext cx="173211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HILOS · 1 _SDK_LOCK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4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4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4"/>
            <a:ext cx="133788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·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4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5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física y compute.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34017"/>
            <a:ext cx="14441658" cy="295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spc="-15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RoboMaster TT con propeller guards + ToF frontal vía RmTTOC. Compute fuera del drone: laptop con GPU NVIDIA.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019528"/>
            <a:ext cx="7044910" cy="6019460"/>
          </a:xfrm>
          <a:prstGeom prst="roundRect">
            <a:avLst>
              <a:gd name="adj" fmla="val 348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818" y="2164860"/>
            <a:ext cx="6754246" cy="5405438"/>
          </a:xfrm>
          <a:prstGeom prst="roundRect">
            <a:avLst>
              <a:gd name="adj" fmla="val 2467"/>
            </a:avLst>
          </a:prstGeom>
          <a:solidFill>
            <a:srgbClr val="1A1A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818" y="2164860"/>
            <a:ext cx="6754246" cy="540543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967" y="2279009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8967" y="2279009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23503" y="2279009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7382820" y="2279009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68967" y="7444053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68967" y="728473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223503" y="7444053"/>
            <a:ext cx="171412" cy="1209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382820" y="7284736"/>
            <a:ext cx="12095" cy="17141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888055" y="2301498"/>
            <a:ext cx="597769" cy="259292"/>
          </a:xfrm>
          <a:prstGeom prst="roundRect">
            <a:avLst>
              <a:gd name="adj" fmla="val 50000"/>
            </a:avLst>
          </a:prstGeom>
          <a:solidFill>
            <a:srgbClr val="000000">
              <a:alpha val="55000"/>
            </a:srgbClr>
          </a:solidFill>
          <a:ln w="1209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5400" y="2370743"/>
            <a:ext cx="459279" cy="158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147405" y="7316108"/>
            <a:ext cx="1304623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AIRFRAME · INDOOR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811893" y="7703533"/>
            <a:ext cx="2233688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 RoboMaster TT (Tello Talent)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63634" y="7709582"/>
            <a:ext cx="276900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110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 GUARDS · RMTTOC ESP32 · LED MATRIX</a:t>
            </a:r>
            <a:endParaRPr lang="en-US" sz="788" dirty="0"/>
          </a:p>
        </p:txBody>
      </p:sp>
      <p:sp>
        <p:nvSpPr>
          <p:cNvPr id="24" name="Shape 21"/>
          <p:cNvSpPr/>
          <p:nvPr/>
        </p:nvSpPr>
        <p:spPr>
          <a:xfrm>
            <a:off x="7921058" y="2019528"/>
            <a:ext cx="6709456" cy="3270061"/>
          </a:xfrm>
          <a:prstGeom prst="roundRect">
            <a:avLst>
              <a:gd name="adj" fmla="val 640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2552" y="2203035"/>
            <a:ext cx="46778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3917839" y="2209083"/>
            <a:ext cx="567380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CAPAS</a:t>
            </a:r>
            <a:endParaRPr lang="en-US" sz="825" dirty="0"/>
          </a:p>
        </p:txBody>
      </p:sp>
      <p:sp>
        <p:nvSpPr>
          <p:cNvPr id="27" name="Shape 24"/>
          <p:cNvSpPr/>
          <p:nvPr/>
        </p:nvSpPr>
        <p:spPr>
          <a:xfrm>
            <a:off x="8142552" y="2721429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28" name="Text 25"/>
          <p:cNvSpPr/>
          <p:nvPr/>
        </p:nvSpPr>
        <p:spPr>
          <a:xfrm>
            <a:off x="8142552" y="2481225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9532938" y="2469130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djitellopy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142552" y="3118871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1" name="Text 28"/>
          <p:cNvSpPr/>
          <p:nvPr/>
        </p:nvSpPr>
        <p:spPr>
          <a:xfrm>
            <a:off x="8142552" y="2878667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9532938" y="2866572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960 × 720 · ~30 FPS · H264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142552" y="3516313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4" name="Text 31"/>
          <p:cNvSpPr/>
          <p:nvPr/>
        </p:nvSpPr>
        <p:spPr>
          <a:xfrm>
            <a:off x="8142552" y="3276109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9532938" y="3264014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laptop · RTX 3060 · i7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142552" y="3913755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7" name="Text 34"/>
          <p:cNvSpPr/>
          <p:nvPr/>
        </p:nvSpPr>
        <p:spPr>
          <a:xfrm>
            <a:off x="8142552" y="3673551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9532938" y="3661456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RmTTOC ESP32 · ToF VL53Lx frontal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142552" y="4311197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40" name="Text 37"/>
          <p:cNvSpPr/>
          <p:nvPr/>
        </p:nvSpPr>
        <p:spPr>
          <a:xfrm>
            <a:off x="8142552" y="4070993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CV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9532938" y="4058898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ultralytics · OpenCV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142552" y="4708639"/>
            <a:ext cx="626646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43" name="Text 40"/>
          <p:cNvSpPr/>
          <p:nvPr/>
        </p:nvSpPr>
        <p:spPr>
          <a:xfrm>
            <a:off x="8142552" y="4468435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 WEB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9532938" y="4456341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uvicorn · WebSocket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8142552" y="4865876"/>
            <a:ext cx="1314261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9532938" y="4853782"/>
            <a:ext cx="5022364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.venv\Scripts\python.exe main.py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921058" y="5441913"/>
            <a:ext cx="1105202" cy="383646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04566" y="5595560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8256890" y="5549069"/>
            <a:ext cx="662063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9102423" y="5441913"/>
            <a:ext cx="1958862" cy="383646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12095">
            <a:solidFill>
              <a:srgbClr val="0B0B0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285930" y="5595560"/>
            <a:ext cx="76162" cy="76162"/>
          </a:xfrm>
          <a:prstGeom prst="ellipse">
            <a:avLst/>
          </a:prstGeom>
          <a:solidFill>
            <a:srgbClr val="00B65A"/>
          </a:solidFill>
          <a:ln/>
          <a:effectLst>
            <a:outerShdw sx="100000" sy="100000" kx="0" ky="0" algn="bl" rotWithShape="0" blurRad="101600" dist="50800" dir="16200000">
              <a:srgbClr val="00B65A">
                <a:alpha val="25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9438255" y="5549069"/>
            <a:ext cx="1515723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PROPELLER GUARDS</a:t>
            </a:r>
            <a:endParaRPr lang="en-US" sz="975" dirty="0"/>
          </a:p>
        </p:txBody>
      </p:sp>
      <p:sp>
        <p:nvSpPr>
          <p:cNvPr id="53" name="Shape 50"/>
          <p:cNvSpPr/>
          <p:nvPr/>
        </p:nvSpPr>
        <p:spPr>
          <a:xfrm>
            <a:off x="11137447" y="5441913"/>
            <a:ext cx="1067594" cy="383646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095">
            <a:solidFill>
              <a:srgbClr val="FF8A0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320955" y="5595560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11473279" y="5549069"/>
            <a:ext cx="624454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GPS</a:t>
            </a: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7921058" y="5901720"/>
            <a:ext cx="2439269" cy="38364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104566" y="6055369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58" name="Text 55"/>
          <p:cNvSpPr/>
          <p:nvPr/>
        </p:nvSpPr>
        <p:spPr>
          <a:xfrm>
            <a:off x="8256890" y="6008876"/>
            <a:ext cx="1996130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17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ODOMETRÍA XY FIABLE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3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3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3"/>
            <a:ext cx="133788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3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4"/>
            <a:ext cx="14441658" cy="61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pixel a </a:t>
            </a:r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70302"/>
            <a:ext cx="14441658" cy="319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spc="-15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determinista frame → list[Person] → punto único + closeness. El wrapper </a:t>
            </a:r>
            <a:pPr algn="l" indent="0" marL="0">
              <a:lnSpc>
                <a:spcPct val="135000"/>
              </a:lnSpc>
              <a:buNone/>
            </a:pPr>
            <a:r>
              <a:rPr lang="en-US" sz="1500" spc="-15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_ActiveTarget </a:t>
            </a:r>
            <a:pPr algn="l" indent="0" marL="0">
              <a:lnSpc>
                <a:spcPct val="135000"/>
              </a:lnSpc>
              <a:buNone/>
            </a:pPr>
            <a:r>
              <a:rPr lang="en-US" sz="1500" spc="-15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swap en runtime sin recargar.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080001"/>
            <a:ext cx="7064375" cy="621582"/>
          </a:xfrm>
          <a:prstGeom prst="roundRect">
            <a:avLst>
              <a:gd name="adj" fmla="val 2451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994" y="2257462"/>
            <a:ext cx="266662" cy="266662"/>
          </a:xfrm>
          <a:prstGeom prst="roundRect">
            <a:avLst>
              <a:gd name="adj" fmla="val 28576"/>
            </a:avLst>
          </a:prstGeom>
          <a:solidFill>
            <a:srgbClr val="0B0B0D"/>
          </a:solidFill>
          <a:ln/>
        </p:spPr>
      </p:sp>
      <p:sp>
        <p:nvSpPr>
          <p:cNvPr id="10" name="Text 8"/>
          <p:cNvSpPr/>
          <p:nvPr/>
        </p:nvSpPr>
        <p:spPr>
          <a:xfrm>
            <a:off x="792994" y="2257462"/>
            <a:ext cx="342862" cy="30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11981" y="2225334"/>
            <a:ext cx="450963" cy="21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23408" y="2249523"/>
            <a:ext cx="882423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BGR 960×720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11981" y="2435300"/>
            <a:ext cx="1914109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DJITELLOPY · ~30 FPS · H264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3521" y="2815696"/>
            <a:ext cx="727630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9487" y="2929503"/>
            <a:ext cx="7064375" cy="621582"/>
          </a:xfrm>
          <a:prstGeom prst="roundRect">
            <a:avLst>
              <a:gd name="adj" fmla="val 2451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2994" y="3106964"/>
            <a:ext cx="266662" cy="266662"/>
          </a:xfrm>
          <a:prstGeom prst="roundRect">
            <a:avLst>
              <a:gd name="adj" fmla="val 28576"/>
            </a:avLst>
          </a:prstGeom>
          <a:solidFill>
            <a:srgbClr val="0B0B0D"/>
          </a:solidFill>
          <a:ln/>
        </p:spPr>
      </p:sp>
      <p:sp>
        <p:nvSpPr>
          <p:cNvPr id="17" name="Text 15"/>
          <p:cNvSpPr/>
          <p:nvPr/>
        </p:nvSpPr>
        <p:spPr>
          <a:xfrm>
            <a:off x="792994" y="3106964"/>
            <a:ext cx="342862" cy="30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1981" y="3074836"/>
            <a:ext cx="953672" cy="21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YOLOv8s-pose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26116" y="3099025"/>
            <a:ext cx="3321251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.track(persist=True, tracker="botsort.yaml")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11981" y="3284802"/>
            <a:ext cx="4262810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 ≥ 0.8 · CLASS 0 (PERSON) · STRIDE 1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03521" y="3665197"/>
            <a:ext cx="7276306" cy="76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9487" y="3779004"/>
            <a:ext cx="7064375" cy="621582"/>
          </a:xfrm>
          <a:prstGeom prst="roundRect">
            <a:avLst>
              <a:gd name="adj" fmla="val 2451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994" y="3956465"/>
            <a:ext cx="266662" cy="266662"/>
          </a:xfrm>
          <a:prstGeom prst="roundRect">
            <a:avLst>
              <a:gd name="adj" fmla="val 28576"/>
            </a:avLst>
          </a:prstGeom>
          <a:solidFill>
            <a:srgbClr val="0B0B0D"/>
          </a:solidFill>
          <a:ln/>
        </p:spPr>
      </p:sp>
      <p:sp>
        <p:nvSpPr>
          <p:cNvPr id="24" name="Text 22"/>
          <p:cNvSpPr/>
          <p:nvPr/>
        </p:nvSpPr>
        <p:spPr>
          <a:xfrm>
            <a:off x="792994" y="3956465"/>
            <a:ext cx="342862" cy="30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11981" y="3948526"/>
            <a:ext cx="955751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list[Person]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8006" y="3924337"/>
            <a:ext cx="168993" cy="21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57463" y="3948526"/>
            <a:ext cx="662630" cy="19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track_id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80368" y="3924337"/>
            <a:ext cx="508416" cy="219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11981" y="4134303"/>
            <a:ext cx="2734357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BOT-SORT REASSIGNS ID ON RE-ID FAILURES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09487" y="4572000"/>
            <a:ext cx="7064375" cy="1041702"/>
          </a:xfrm>
          <a:prstGeom prst="roundRect">
            <a:avLst>
              <a:gd name="adj" fmla="val 1463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981" y="4755507"/>
            <a:ext cx="682002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@DATACLASS PERSON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830981" y="5033697"/>
            <a:ext cx="1442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66863" y="5033697"/>
            <a:ext cx="1981389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+ identidad + keypoints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2940088" y="5033697"/>
            <a:ext cx="21227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3076159" y="5033697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3212231" y="5033697"/>
            <a:ext cx="21227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y1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3348302" y="5033697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3484374" y="5033697"/>
            <a:ext cx="21227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3620445" y="5033697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3756516" y="5033697"/>
            <a:ext cx="21227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y2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3892588" y="5033697"/>
            <a:ext cx="1442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028470" y="5033697"/>
            <a:ext cx="28049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4300802" y="5033697"/>
            <a:ext cx="10967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bbox_confidence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321338" y="5033697"/>
            <a:ext cx="1442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5457409" y="5033697"/>
            <a:ext cx="416379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0B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5865624" y="5033697"/>
            <a:ext cx="62048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track_id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6409910" y="5033697"/>
            <a:ext cx="1442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6545981" y="5033697"/>
            <a:ext cx="756557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0B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| None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830981" y="5033697"/>
            <a:ext cx="6727372" cy="393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BoT-SORT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443302" y="5244040"/>
            <a:ext cx="348343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nose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715445" y="5244040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851516" y="5244040"/>
            <a:ext cx="348343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eyes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2123659" y="5244040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2259731" y="5244040"/>
            <a:ext cx="348343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ears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2531873" y="5244040"/>
            <a:ext cx="14423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2667945" y="5244040"/>
            <a:ext cx="68852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shoulders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3280266" y="5244040"/>
            <a:ext cx="14423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3416149" y="5244040"/>
            <a:ext cx="620675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Keypoint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7902348" y="2128384"/>
            <a:ext cx="3108879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INSTANCIAS TARGET · SELECTOR RUNTIME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902348" y="2418857"/>
            <a:ext cx="3316552" cy="756708"/>
          </a:xfrm>
          <a:prstGeom prst="roundRect">
            <a:avLst>
              <a:gd name="adj" fmla="val 1762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7680" y="2545103"/>
            <a:ext cx="311666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047680" y="2735224"/>
            <a:ext cx="3116665" cy="352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nose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y_ratio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closeness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bbox_h</a:t>
            </a:r>
            <a:endParaRPr lang="en-US" sz="825" dirty="0"/>
          </a:p>
        </p:txBody>
      </p:sp>
      <p:sp>
        <p:nvSpPr>
          <p:cNvPr id="63" name="Shape 61"/>
          <p:cNvSpPr/>
          <p:nvPr/>
        </p:nvSpPr>
        <p:spPr>
          <a:xfrm>
            <a:off x="11313962" y="2418857"/>
            <a:ext cx="3316552" cy="756708"/>
          </a:xfrm>
          <a:prstGeom prst="roundRect">
            <a:avLst>
              <a:gd name="adj" fmla="val 1762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459294" y="2545103"/>
            <a:ext cx="311666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EYES_MIDPOINT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459294" y="2735224"/>
            <a:ext cx="3116665" cy="352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mid(eyes)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y_ratio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closeness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bbox_h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7902348" y="3270626"/>
            <a:ext cx="3316552" cy="756708"/>
          </a:xfrm>
          <a:prstGeom prst="roundRect">
            <a:avLst>
              <a:gd name="adj" fmla="val 1762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47680" y="3396872"/>
            <a:ext cx="311666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SHOULDERS_MIDPOINT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047680" y="3586993"/>
            <a:ext cx="3116665" cy="352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mid(shoulders)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y_ratio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0.25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closeness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bbox_w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11313962" y="3270626"/>
            <a:ext cx="3316552" cy="756708"/>
          </a:xfrm>
          <a:prstGeom prst="roundRect">
            <a:avLst>
              <a:gd name="adj" fmla="val 1762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459294" y="3396872"/>
            <a:ext cx="311666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BBOX_CENTER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459294" y="3586993"/>
            <a:ext cx="3116665" cy="352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bbox_center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y_ratio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 </a:t>
            </a:r>
            <a:pPr algn="l" indent="0" marL="0">
              <a:lnSpc>
                <a:spcPct val="150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closeness </a:t>
            </a:r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bbox_h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7902348" y="4160572"/>
            <a:ext cx="6728165" cy="928499"/>
          </a:xfrm>
          <a:prstGeom prst="roundRect">
            <a:avLst>
              <a:gd name="adj" fmla="val 1641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85856" y="4324992"/>
            <a:ext cx="6551985" cy="20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UN WRAPPER MUTABLE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085856" y="4553478"/>
            <a:ext cx="2963469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operador cambia de Target sin recargar el modelo:</a:t>
            </a:r>
            <a:endParaRPr lang="en-US" sz="975" dirty="0"/>
          </a:p>
        </p:txBody>
      </p:sp>
      <p:sp>
        <p:nvSpPr>
          <p:cNvPr id="75" name="Text 73"/>
          <p:cNvSpPr/>
          <p:nvPr/>
        </p:nvSpPr>
        <p:spPr>
          <a:xfrm>
            <a:off x="10997029" y="4553478"/>
            <a:ext cx="150873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_ActiveTarget.set(target)</a:t>
            </a:r>
            <a:endParaRPr lang="en-US" sz="975" dirty="0"/>
          </a:p>
        </p:txBody>
      </p:sp>
      <p:sp>
        <p:nvSpPr>
          <p:cNvPr id="76" name="Text 74"/>
          <p:cNvSpPr/>
          <p:nvPr/>
        </p:nvSpPr>
        <p:spPr>
          <a:xfrm>
            <a:off x="8085856" y="4553478"/>
            <a:ext cx="6365893" cy="39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intercambia el callable durante el vuelo. Cada Target define su propia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10041883" y="4739064"/>
            <a:ext cx="99543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signal</a:t>
            </a:r>
            <a:endParaRPr lang="en-US" sz="975" dirty="0"/>
          </a:p>
        </p:txBody>
      </p:sp>
      <p:sp>
        <p:nvSpPr>
          <p:cNvPr id="78" name="Text 76"/>
          <p:cNvSpPr/>
          <p:nvPr/>
        </p:nvSpPr>
        <p:spPr>
          <a:xfrm>
            <a:off x="10994950" y="4739064"/>
            <a:ext cx="2322323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 PID de pitch elige fuente sin if-trees.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3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3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3"/>
            <a:ext cx="133788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IDENTIDAD ·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3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4"/>
            <a:ext cx="14441658" cy="618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objetivo y solo uno: </a:t>
            </a:r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select_best_person</a:t>
            </a:r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9487" y="1570302"/>
            <a:ext cx="14441658" cy="295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spc="-15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determinista de 4 niveles. El lock por track_id es la verdad; los demás solo cubren el degradado.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487" y="2055812"/>
            <a:ext cx="7044910" cy="5983174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068" y="2566646"/>
            <a:ext cx="6563746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10" name="Text 8"/>
          <p:cNvSpPr/>
          <p:nvPr/>
        </p:nvSpPr>
        <p:spPr>
          <a:xfrm>
            <a:off x="850068" y="2277305"/>
            <a:ext cx="2761415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PERCEPTION.PY </a:t>
            </a:r>
            <a:pPr algn="l" indent="0" marL="0">
              <a:lnSpc>
                <a:spcPct val="170000"/>
              </a:lnSpc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SELECT_BEST_PERSON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31126" y="2277305"/>
            <a:ext cx="1258888" cy="23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 1 →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068" y="2727664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135629" y="2711979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</p:sp>
      <p:sp>
        <p:nvSpPr>
          <p:cNvPr id="14" name="Text 12"/>
          <p:cNvSpPr/>
          <p:nvPr/>
        </p:nvSpPr>
        <p:spPr>
          <a:xfrm>
            <a:off x="1135629" y="2711979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478454" y="271556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locked_track_id: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 exclusivo por ID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50068" y="2995082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478454" y="2982988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first(p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persons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p.track_id == locked_track_id)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50068" y="3250406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850068" y="350100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1135629" y="3485317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</p:sp>
      <p:sp>
        <p:nvSpPr>
          <p:cNvPr id="21" name="Text 19"/>
          <p:cNvSpPr/>
          <p:nvPr/>
        </p:nvSpPr>
        <p:spPr>
          <a:xfrm>
            <a:off x="1135629" y="3485317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478454" y="3488908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last_point_px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nearest visible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50068" y="3768421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478454" y="3756329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argmin(persons, key=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dist(p.target_point, last_point_px))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850068" y="4023745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50068" y="4274344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1135629" y="4258656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</p:sp>
      <p:sp>
        <p:nvSpPr>
          <p:cNvPr id="28" name="Text 26"/>
          <p:cNvSpPr/>
          <p:nvPr/>
        </p:nvSpPr>
        <p:spPr>
          <a:xfrm>
            <a:off x="1135629" y="4258656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478454" y="4262247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any_visible(persons):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mayor bbox visible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50068" y="4541760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478454" y="4529668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argmax(visible(persons), key=bbox_area)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50068" y="4797084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850068" y="5047683"/>
            <a:ext cx="285599" cy="215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135629" y="5031995"/>
            <a:ext cx="209399" cy="209399"/>
          </a:xfrm>
          <a:prstGeom prst="roundRect">
            <a:avLst>
              <a:gd name="adj" fmla="val 27292"/>
            </a:avLst>
          </a:prstGeom>
          <a:solidFill>
            <a:srgbClr val="0B0B0D"/>
          </a:solidFill>
          <a:ln/>
        </p:spPr>
      </p:sp>
      <p:sp>
        <p:nvSpPr>
          <p:cNvPr id="35" name="Text 33"/>
          <p:cNvSpPr/>
          <p:nvPr/>
        </p:nvSpPr>
        <p:spPr>
          <a:xfrm>
            <a:off x="1135629" y="5031995"/>
            <a:ext cx="285599" cy="24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478454" y="5035586"/>
            <a:ext cx="6113421" cy="248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FF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argmax(persons, key=bbox_area)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fallback total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7921058" y="2055812"/>
            <a:ext cx="6709456" cy="4455016"/>
          </a:xfrm>
          <a:prstGeom prst="roundRect">
            <a:avLst>
              <a:gd name="adj" fmla="val 384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4566" y="2327577"/>
            <a:ext cx="318732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EN VUELO · 3 PERSONAS DETECTADAS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192693" y="2239319"/>
            <a:ext cx="1254314" cy="321658"/>
          </a:xfrm>
          <a:prstGeom prst="roundRect">
            <a:avLst>
              <a:gd name="adj" fmla="val 50000"/>
            </a:avLst>
          </a:prstGeom>
          <a:solidFill>
            <a:srgbClr val="FF2D2D"/>
          </a:solidFill>
          <a:ln w="12095">
            <a:solidFill>
              <a:srgbClr val="FF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8025" y="2361972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3490349" y="2327577"/>
            <a:ext cx="887526" cy="18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· #7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104566" y="2675125"/>
            <a:ext cx="6342441" cy="3652195"/>
          </a:xfrm>
          <a:prstGeom prst="roundRect">
            <a:avLst>
              <a:gd name="adj" fmla="val 3130"/>
            </a:avLst>
          </a:prstGeom>
          <a:solidFill>
            <a:srgbClr val="0A0A0C"/>
          </a:solidFill>
          <a:ln w="12095">
            <a:solidFill>
              <a:srgbClr val="0B0B0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75787" y="2687222"/>
            <a:ext cx="9525" cy="362800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16661" y="4501130"/>
            <a:ext cx="63182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558893" y="3775602"/>
            <a:ext cx="1137141" cy="2176765"/>
          </a:xfrm>
          <a:prstGeom prst="roundRect">
            <a:avLst>
              <a:gd name="adj" fmla="val 1675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52089" y="3578300"/>
            <a:ext cx="816807" cy="158750"/>
          </a:xfrm>
          <a:prstGeom prst="roundRect">
            <a:avLst>
              <a:gd name="adj" fmla="val 24000"/>
            </a:avLst>
          </a:prstGeom>
          <a:solidFill>
            <a:srgbClr val="00B65A"/>
          </a:solidFill>
          <a:ln/>
        </p:spPr>
      </p:sp>
      <p:sp>
        <p:nvSpPr>
          <p:cNvPr id="47" name="Text 45"/>
          <p:cNvSpPr/>
          <p:nvPr/>
        </p:nvSpPr>
        <p:spPr>
          <a:xfrm>
            <a:off x="8609239" y="3597350"/>
            <a:ext cx="778707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 · rank 3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10391132" y="3195033"/>
            <a:ext cx="1768929" cy="2902290"/>
          </a:xfrm>
          <a:prstGeom prst="roundRect">
            <a:avLst>
              <a:gd name="adj" fmla="val 1077"/>
            </a:avLst>
          </a:prstGeom>
          <a:solidFill>
            <a:srgbClr val="FF2D2D">
              <a:alpha val="6000"/>
            </a:srgbClr>
          </a:solidFill>
          <a:ln w="24190">
            <a:solidFill>
              <a:srgbClr val="FF2D2D"/>
            </a:solidFill>
            <a:prstDash val="solid"/>
          </a:ln>
          <a:effectLst>
            <a:outerShdw sx="100000" sy="100000" kx="0" ky="0" algn="bl" rotWithShape="0" blurRad="101600" dist="50800" dir="16200000">
              <a:srgbClr val="FF2D2D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396424" y="3009823"/>
            <a:ext cx="816807" cy="158750"/>
          </a:xfrm>
          <a:prstGeom prst="roundRect">
            <a:avLst>
              <a:gd name="adj" fmla="val 24000"/>
            </a:avLst>
          </a:prstGeom>
          <a:solidFill>
            <a:srgbClr val="FF2D2D"/>
          </a:solidFill>
          <a:ln/>
        </p:spPr>
      </p:sp>
      <p:sp>
        <p:nvSpPr>
          <p:cNvPr id="50" name="Text 48"/>
          <p:cNvSpPr/>
          <p:nvPr/>
        </p:nvSpPr>
        <p:spPr>
          <a:xfrm>
            <a:off x="10453574" y="3028873"/>
            <a:ext cx="778707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 · LOCKED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2792038" y="4065701"/>
            <a:ext cx="1074019" cy="1886479"/>
          </a:xfrm>
          <a:prstGeom prst="roundRect">
            <a:avLst>
              <a:gd name="adj" fmla="val 1774"/>
            </a:avLst>
          </a:prstGeom>
          <a:solidFill>
            <a:srgbClr val="00B65A">
              <a:alpha val="4000"/>
            </a:srgbClr>
          </a:solidFill>
          <a:ln w="12095">
            <a:solidFill>
              <a:srgbClr val="00B65A">
                <a:alpha val="8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785234" y="3868396"/>
            <a:ext cx="880685" cy="158750"/>
          </a:xfrm>
          <a:prstGeom prst="roundRect">
            <a:avLst>
              <a:gd name="adj" fmla="val 24000"/>
            </a:avLst>
          </a:prstGeom>
          <a:solidFill>
            <a:srgbClr val="00B65A"/>
          </a:solidFill>
          <a:ln/>
        </p:spPr>
      </p:sp>
      <p:sp>
        <p:nvSpPr>
          <p:cNvPr id="53" name="Text 51"/>
          <p:cNvSpPr/>
          <p:nvPr/>
        </p:nvSpPr>
        <p:spPr>
          <a:xfrm>
            <a:off x="12842384" y="3887446"/>
            <a:ext cx="84258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 · rank 2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8249897" y="6130207"/>
            <a:ext cx="2306260" cy="146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16.8s · BoT-SORT persist=True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921058" y="6682239"/>
            <a:ext cx="6709456" cy="523497"/>
          </a:xfrm>
          <a:prstGeom prst="roundRect">
            <a:avLst>
              <a:gd name="adj" fmla="val 25473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66390" y="6808487"/>
            <a:ext cx="1347296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73546" y="6858567"/>
            <a:ext cx="195981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</p:sp>
      <p:sp>
        <p:nvSpPr>
          <p:cNvPr id="58" name="Text 56"/>
          <p:cNvSpPr/>
          <p:nvPr/>
        </p:nvSpPr>
        <p:spPr>
          <a:xfrm>
            <a:off x="8240221" y="6877617"/>
            <a:ext cx="138831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26602" y="6877464"/>
            <a:ext cx="956128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/ cycle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489849" y="6808487"/>
            <a:ext cx="1095942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97005" y="6858567"/>
            <a:ext cx="195981" cy="170845"/>
          </a:xfrm>
          <a:prstGeom prst="roundRect">
            <a:avLst>
              <a:gd name="adj" fmla="val 22301"/>
            </a:avLst>
          </a:prstGeom>
          <a:solidFill>
            <a:srgbClr val="0B0B0D"/>
          </a:solidFill>
          <a:ln/>
        </p:spPr>
      </p:sp>
      <p:sp>
        <p:nvSpPr>
          <p:cNvPr id="62" name="Text 60"/>
          <p:cNvSpPr/>
          <p:nvPr/>
        </p:nvSpPr>
        <p:spPr>
          <a:xfrm>
            <a:off x="9663680" y="6877617"/>
            <a:ext cx="138831" cy="170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850060" y="6877464"/>
            <a:ext cx="704774" cy="171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lock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0661953" y="6808487"/>
            <a:ext cx="2728043" cy="271009"/>
          </a:xfrm>
          <a:prstGeom prst="roundRect">
            <a:avLst>
              <a:gd name="adj" fmla="val 28117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769298" y="6858682"/>
            <a:ext cx="2595194" cy="208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webapp · /cmd/enroll · /cmd/clear_lock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921058" y="7377150"/>
            <a:ext cx="6709456" cy="661836"/>
          </a:xfrm>
          <a:prstGeom prst="roundRect">
            <a:avLst>
              <a:gd name="adj" fmla="val 20148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04603" y="7522595"/>
            <a:ext cx="6543649" cy="409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Auto-clear si lock no aparece &gt; 3 s.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BoT-SORT reasigna IDs en re-id failures (oclusión larga, salida-entrada de frame): sin auto-clear el lock se vuelve permanent dead-lock y el drone nunca re-trackea.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6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6"/>
            <a:ext cx="212634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· 6 PID · MODE FSM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6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1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PID discretos. Cuatro ejes RC.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4597514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994" y="1698436"/>
            <a:ext cx="808340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5697" y="1771008"/>
            <a:ext cx="34399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BARO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92994" y="1999115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2994" y="3506860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12" name="Text 10"/>
          <p:cNvSpPr/>
          <p:nvPr/>
        </p:nvSpPr>
        <p:spPr>
          <a:xfrm>
            <a:off x="792994" y="3576106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321149" y="1534018"/>
            <a:ext cx="4597514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56" y="1698436"/>
            <a:ext cx="1436347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 TARGET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65759" y="1771008"/>
            <a:ext cx="74559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IMG-Y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5504656" y="1999115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−0.15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−0.004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504656" y="3506860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56" y="3576106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10032811" y="1534018"/>
            <a:ext cx="4597703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6319" y="1698436"/>
            <a:ext cx="440947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576905" y="1771008"/>
            <a:ext cx="94630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TARGET_X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10216319" y="1999115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0.003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216319" y="3506860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6319" y="3576106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9487" y="3975553"/>
            <a:ext cx="4597514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994" y="4139971"/>
            <a:ext cx="920410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ToF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54097" y="4212543"/>
            <a:ext cx="74559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· FRONT</a:t>
            </a:r>
            <a:endParaRPr lang="en-US" sz="788" dirty="0"/>
          </a:p>
        </p:txBody>
      </p:sp>
      <p:sp>
        <p:nvSpPr>
          <p:cNvPr id="28" name="Text 26"/>
          <p:cNvSpPr/>
          <p:nvPr/>
        </p:nvSpPr>
        <p:spPr>
          <a:xfrm>
            <a:off x="792994" y="4440655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−0.85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2994" y="5948400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0" name="Text 28"/>
          <p:cNvSpPr/>
          <p:nvPr/>
        </p:nvSpPr>
        <p:spPr>
          <a:xfrm>
            <a:off x="792994" y="601764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5321149" y="3975553"/>
            <a:ext cx="4597514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56" y="4139971"/>
            <a:ext cx="1075569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· BBOX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7258" y="4212543"/>
            <a:ext cx="1214097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· CLOSENESS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504656" y="4440655"/>
            <a:ext cx="4357414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04656" y="5948400"/>
            <a:ext cx="4230499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6" name="Text 34"/>
          <p:cNvSpPr/>
          <p:nvPr/>
        </p:nvSpPr>
        <p:spPr>
          <a:xfrm>
            <a:off x="5504656" y="6017645"/>
            <a:ext cx="435741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10032811" y="3975553"/>
            <a:ext cx="4597703" cy="2327388"/>
          </a:xfrm>
          <a:prstGeom prst="roundRect">
            <a:avLst>
              <a:gd name="adj" fmla="val 7367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16319" y="4139971"/>
            <a:ext cx="449641" cy="243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175305" y="4212543"/>
            <a:ext cx="1347901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b="1" spc="9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· DEAD-ZONE BBOX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10216319" y="4440655"/>
            <a:ext cx="4357608" cy="255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-37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Ki Kd 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buNone/>
            </a:pPr>
            <a:r>
              <a:rPr lang="en-US" sz="1500" b="1" spc="-37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0.15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0216319" y="5948400"/>
            <a:ext cx="4230688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42" name="Text 40"/>
          <p:cNvSpPr/>
          <p:nvPr/>
        </p:nvSpPr>
        <p:spPr>
          <a:xfrm>
            <a:off x="10216319" y="6017645"/>
            <a:ext cx="4357608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 error </a:t>
            </a:r>
            <a:pPr algn="l" indent="0" marL="0"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buNone/>
            </a:pPr>
            <a:r>
              <a:rPr lang="en-US" sz="825" spc="33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609487" y="6455266"/>
            <a:ext cx="7838659" cy="1583720"/>
          </a:xfrm>
          <a:prstGeom prst="roundRect">
            <a:avLst>
              <a:gd name="adj" fmla="val 10826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0981" y="6619684"/>
            <a:ext cx="761754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DISCRETA · FORMA ESTÁNDAR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0981" y="6840992"/>
            <a:ext cx="7395671" cy="357943"/>
          </a:xfrm>
          <a:prstGeom prst="roundRect">
            <a:avLst>
              <a:gd name="adj" fmla="val 21288"/>
            </a:avLst>
          </a:prstGeom>
          <a:solidFill>
            <a:srgbClr val="F6F6F7"/>
          </a:solidFill>
          <a:ln/>
        </p:spPr>
      </p:sp>
      <p:sp>
        <p:nvSpPr>
          <p:cNvPr id="46" name="Shape 44"/>
          <p:cNvSpPr/>
          <p:nvPr/>
        </p:nvSpPr>
        <p:spPr>
          <a:xfrm>
            <a:off x="830981" y="7186840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47" name="Shape 45"/>
          <p:cNvSpPr/>
          <p:nvPr/>
        </p:nvSpPr>
        <p:spPr>
          <a:xfrm>
            <a:off x="830981" y="6840992"/>
            <a:ext cx="7395671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48" name="Text 46"/>
          <p:cNvSpPr/>
          <p:nvPr/>
        </p:nvSpPr>
        <p:spPr>
          <a:xfrm>
            <a:off x="720046" y="6929287"/>
            <a:ext cx="7617541" cy="21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-13" kern="0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u(k) 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·e(k) 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·Σe(k)·dt 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ctr" indent="0" marL="0">
              <a:buNone/>
            </a:pPr>
            <a:r>
              <a:rPr lang="en-US" sz="1275" b="1" spc="-1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ctr" indent="0" marL="0">
              <a:buNone/>
            </a:pPr>
            <a:r>
              <a:rPr lang="en-US" sz="1275" spc="-13" kern="0" dirty="0">
                <a:solidFill>
                  <a:srgbClr val="0B0B0D"/>
                </a:solidFill>
                <a:highlight>
                  <a:srgbClr val="F6F6F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·[e(k)−e(k−1)]/dt</a:t>
            </a:r>
            <a:endParaRPr lang="en-US" sz="1275" dirty="0"/>
          </a:p>
        </p:txBody>
      </p:sp>
      <p:sp>
        <p:nvSpPr>
          <p:cNvPr id="49" name="Text 47"/>
          <p:cNvSpPr/>
          <p:nvPr/>
        </p:nvSpPr>
        <p:spPr>
          <a:xfrm>
            <a:off x="830981" y="7275095"/>
            <a:ext cx="7617541" cy="405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α=0.3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target_x/y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closeness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del derivative term → kill jitter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 px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YOLO. Anti-windup en el integral. RC loop a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Hz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RC_LOOP_INTERVAL_S = 0.05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00471" y="6455266"/>
            <a:ext cx="6030044" cy="1583720"/>
          </a:xfrm>
          <a:prstGeom prst="roundRect">
            <a:avLst>
              <a:gd name="adj" fmla="val 10826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83978" y="6619684"/>
            <a:ext cx="5832920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FSM · 5 ESTADOS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783978" y="6859888"/>
            <a:ext cx="1196673" cy="321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29310" y="6982541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54" name="Text 52"/>
          <p:cNvSpPr/>
          <p:nvPr/>
        </p:nvSpPr>
        <p:spPr>
          <a:xfrm>
            <a:off x="9081634" y="6948148"/>
            <a:ext cx="829884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037725" y="6859888"/>
            <a:ext cx="1412686" cy="321658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83057" y="6982541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335381" y="6948148"/>
            <a:ext cx="1045898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1507485" y="6859888"/>
            <a:ext cx="897505" cy="321658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095">
            <a:solidFill>
              <a:srgbClr val="FF8A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652817" y="6982541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1805141" y="6948148"/>
            <a:ext cx="530716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2462064" y="6859888"/>
            <a:ext cx="1213682" cy="321658"/>
          </a:xfrm>
          <a:prstGeom prst="roundRect">
            <a:avLst>
              <a:gd name="adj" fmla="val 50000"/>
            </a:avLst>
          </a:prstGeom>
          <a:solidFill>
            <a:srgbClr val="1F6BFF"/>
          </a:solidFill>
          <a:ln w="12095">
            <a:solidFill>
              <a:srgbClr val="1F6B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607396" y="6982541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2759720" y="6948148"/>
            <a:ext cx="846894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783978" y="7238623"/>
            <a:ext cx="1024316" cy="321658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095">
            <a:solidFill>
              <a:srgbClr val="FF8A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29310" y="7361276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9081634" y="7326878"/>
            <a:ext cx="657527" cy="183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783978" y="7712413"/>
            <a:ext cx="5832920" cy="200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spc="33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modo activa / desactiva subconjuntos de PIDs y abre la capa de seguridad correspondiente.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6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6"/>
            <a:ext cx="2520383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FSM · CAPAS DE SEGURIDAD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6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no hay objetivo: girar, avanzar, dudar.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14021027" cy="2290347"/>
          </a:xfrm>
          <a:prstGeom prst="roundRect">
            <a:avLst>
              <a:gd name="adj" fmla="val 914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9156" y="1793686"/>
            <a:ext cx="13906738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FSM · 3 ESTADOS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9156" y="2091151"/>
            <a:ext cx="3232641" cy="914324"/>
          </a:xfrm>
          <a:prstGeom prst="roundRect">
            <a:avLst>
              <a:gd name="adj" fmla="val 14585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576" y="2236487"/>
            <a:ext cx="299091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33576" y="2414513"/>
            <a:ext cx="2990916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33576" y="2700072"/>
            <a:ext cx="2990916" cy="1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visible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intercept; sin target arranca FSM.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01798" y="2091151"/>
            <a:ext cx="361761" cy="95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7359" y="2091151"/>
            <a:ext cx="4525698" cy="914324"/>
          </a:xfrm>
          <a:prstGeom prst="roundRect">
            <a:avLst>
              <a:gd name="adj" fmla="val 14585"/>
            </a:avLst>
          </a:prstGeom>
          <a:solidFill>
            <a:srgbClr val="0B0B0D"/>
          </a:solidFill>
          <a:ln w="12095">
            <a:solidFill>
              <a:srgbClr val="0B0B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1778" y="2236487"/>
            <a:ext cx="4322764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51778" y="2414513"/>
            <a:ext cx="4322764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551778" y="2700072"/>
            <a:ext cx="4322764" cy="1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yaw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hasta 360°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50°/s muestreando ToF cada 10°.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913057" y="2091151"/>
            <a:ext cx="361761" cy="952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98618" y="2091151"/>
            <a:ext cx="5172226" cy="914324"/>
          </a:xfrm>
          <a:prstGeom prst="roundRect">
            <a:avLst>
              <a:gd name="adj" fmla="val 14585"/>
            </a:avLst>
          </a:prstGeom>
          <a:solidFill>
            <a:srgbClr val="F6F6F7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037" y="2236487"/>
            <a:ext cx="4988689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· 03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9363037" y="2414513"/>
            <a:ext cx="4988689" cy="247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41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363037" y="2700072"/>
            <a:ext cx="4988689" cy="19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PID hasta intercept; cada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s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fb y hace sweep 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±20°</a:t>
            </a:r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9156" y="3138715"/>
            <a:ext cx="13501688" cy="425979"/>
          </a:xfrm>
          <a:prstGeom prst="roundRect">
            <a:avLst>
              <a:gd name="adj" fmla="val 22360"/>
            </a:avLst>
          </a:prstGeom>
          <a:solidFill>
            <a:srgbClr val="F6F6F7"/>
          </a:solidFill>
          <a:ln/>
        </p:spPr>
      </p:sp>
      <p:sp>
        <p:nvSpPr>
          <p:cNvPr id="24" name="Shape 22"/>
          <p:cNvSpPr/>
          <p:nvPr/>
        </p:nvSpPr>
        <p:spPr>
          <a:xfrm>
            <a:off x="869156" y="3138715"/>
            <a:ext cx="24190" cy="425979"/>
          </a:xfrm>
          <a:prstGeom prst="rect">
            <a:avLst/>
          </a:prstGeom>
          <a:solidFill>
            <a:srgbClr val="FF8A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26697" y="3253015"/>
            <a:ext cx="13615848" cy="2354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mid-advance: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highlight>
                  <a:srgbClr val="F6F6F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 durante el barrido el ToF lee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80 cm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highlight>
                  <a:srgbClr val="F6F6F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el sistema interpreta pared diagonal en eje no frontal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highlight>
                  <a:srgbClr val="F6F6F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aborta advance, vuelve a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</a:t>
            </a:r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A4A52"/>
                </a:solidFill>
                <a:highlight>
                  <a:srgbClr val="F6F6F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Sin XY odometry esta es la única señal de pared lateral disponible.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09487" y="39957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818" y="44315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00B65A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54818" y="44315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B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⌖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92704" y="4421000"/>
            <a:ext cx="1223547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Ceiling / floor clamp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192704" y="4619058"/>
            <a:ext cx="5532952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BARO · CLAMP UD</a:t>
            </a:r>
            <a:endParaRPr lang="en-US" sz="788" dirty="0"/>
          </a:p>
        </p:txBody>
      </p:sp>
      <p:sp>
        <p:nvSpPr>
          <p:cNvPr id="31" name="Text 29"/>
          <p:cNvSpPr/>
          <p:nvPr/>
        </p:nvSpPr>
        <p:spPr>
          <a:xfrm>
            <a:off x="6602450" y="4520975"/>
            <a:ext cx="824593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/ 30 cm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7667436" y="39957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2768" y="44315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FF2D2D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812768" y="44315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▮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50654" y="4421000"/>
            <a:ext cx="1009045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stop frontal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250654" y="4619058"/>
            <a:ext cx="5813454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FB = 0 · RESET INTEGRAL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13932733" y="4520975"/>
            <a:ext cx="552450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60 cm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609487" y="52863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818" y="57221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FF8A00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54818" y="57221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92704" y="5711600"/>
            <a:ext cx="1192364" cy="207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Discontinuity freeze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192704" y="5909658"/>
            <a:ext cx="5953413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 DIAGONAL-WALL · PIERDE TOF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7010665" y="5811571"/>
            <a:ext cx="416379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s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7667436" y="52863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12768" y="57221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1F6BFF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812768" y="57221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50654" y="5711600"/>
            <a:ext cx="1411212" cy="207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miss hysteresis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8250654" y="5909658"/>
            <a:ext cx="5673300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LAST EMA · ANTI FLICKER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13796661" y="5811571"/>
            <a:ext cx="688521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frames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609487" y="6576975"/>
            <a:ext cx="696288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4818" y="70127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FF8A00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54818" y="70127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⌁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92704" y="7002196"/>
            <a:ext cx="938742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auto-clear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192704" y="7200258"/>
            <a:ext cx="5953413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RE-ID FAILURE · BOT-SORT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7010665" y="7102171"/>
            <a:ext cx="416379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s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7667436" y="6576975"/>
            <a:ext cx="6963078" cy="1195539"/>
          </a:xfrm>
          <a:prstGeom prst="roundRect">
            <a:avLst>
              <a:gd name="adj" fmla="val 11154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12768" y="7012781"/>
            <a:ext cx="323737" cy="323737"/>
          </a:xfrm>
          <a:prstGeom prst="roundRect">
            <a:avLst>
              <a:gd name="adj" fmla="val 29422"/>
            </a:avLst>
          </a:prstGeom>
          <a:solidFill>
            <a:srgbClr val="1F6BFF">
              <a:alpha val="1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7812768" y="7012781"/>
            <a:ext cx="399937" cy="361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↔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250654" y="7002196"/>
            <a:ext cx="1338262" cy="20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source hysteresis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8250654" y="7200258"/>
            <a:ext cx="5743377" cy="17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88" spc="79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TOF ↔ BBOX</a:t>
            </a:r>
            <a:endParaRPr lang="en-US" sz="788" dirty="0"/>
          </a:p>
        </p:txBody>
      </p:sp>
      <p:sp>
        <p:nvSpPr>
          <p:cNvPr id="61" name="Text 59"/>
          <p:cNvSpPr/>
          <p:nvPr/>
        </p:nvSpPr>
        <p:spPr>
          <a:xfrm>
            <a:off x="13864696" y="7102171"/>
            <a:ext cx="620486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frames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609487" y="7867576"/>
            <a:ext cx="14441658" cy="20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3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dead-reckoning XY 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Tello carece de odometría fiable en horizontal; toda la seguridad horizontal se apoya en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spc="3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ToF + hysteresis</a:t>
            </a:r>
            <a:pPr algn="l" indent="0" marL="0">
              <a:lnSpc>
                <a:spcPct val="150000"/>
              </a:lnSpc>
              <a:buNone/>
            </a:pPr>
            <a:r>
              <a:rPr lang="en-US" sz="900" spc="3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6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6"/>
            <a:ext cx="1810922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 · MULTI-CLIENTE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6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consola, varios clientes, misma WiFi.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6896176" cy="5582331"/>
          </a:xfrm>
          <a:prstGeom prst="roundRect">
            <a:avLst>
              <a:gd name="adj" fmla="val 3071"/>
            </a:avLst>
          </a:prstGeom>
          <a:solidFill>
            <a:srgbClr val="0B0B0D"/>
          </a:solidFill>
          <a:ln/>
        </p:spPr>
      </p:sp>
      <p:sp>
        <p:nvSpPr>
          <p:cNvPr id="8" name="Shape 6"/>
          <p:cNvSpPr/>
          <p:nvPr/>
        </p:nvSpPr>
        <p:spPr>
          <a:xfrm>
            <a:off x="685649" y="1610176"/>
            <a:ext cx="6743851" cy="5430006"/>
          </a:xfrm>
          <a:prstGeom prst="roundRect">
            <a:avLst>
              <a:gd name="adj" fmla="val 2105"/>
            </a:avLst>
          </a:prstGeom>
          <a:solidFill>
            <a:srgbClr val="ECEC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649" y="1610176"/>
            <a:ext cx="6743851" cy="543000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1811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1" name="Shape 8"/>
          <p:cNvSpPr/>
          <p:nvPr/>
        </p:nvSpPr>
        <p:spPr>
          <a:xfrm>
            <a:off x="761811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2" name="Shape 9"/>
          <p:cNvSpPr/>
          <p:nvPr/>
        </p:nvSpPr>
        <p:spPr>
          <a:xfrm>
            <a:off x="7181926" y="1686339"/>
            <a:ext cx="171412" cy="12095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3" name="Shape 10"/>
          <p:cNvSpPr/>
          <p:nvPr/>
        </p:nvSpPr>
        <p:spPr>
          <a:xfrm>
            <a:off x="7341243" y="168633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4" name="Shape 11"/>
          <p:cNvSpPr/>
          <p:nvPr/>
        </p:nvSpPr>
        <p:spPr>
          <a:xfrm>
            <a:off x="761811" y="6951926"/>
            <a:ext cx="171412" cy="12095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5" name="Shape 12"/>
          <p:cNvSpPr/>
          <p:nvPr/>
        </p:nvSpPr>
        <p:spPr>
          <a:xfrm>
            <a:off x="761811" y="679260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6" name="Shape 13"/>
          <p:cNvSpPr/>
          <p:nvPr/>
        </p:nvSpPr>
        <p:spPr>
          <a:xfrm>
            <a:off x="7181926" y="6951926"/>
            <a:ext cx="171412" cy="12095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7" name="Shape 14"/>
          <p:cNvSpPr/>
          <p:nvPr/>
        </p:nvSpPr>
        <p:spPr>
          <a:xfrm>
            <a:off x="7341243" y="6792609"/>
            <a:ext cx="12095" cy="171412"/>
          </a:xfrm>
          <a:prstGeom prst="rect">
            <a:avLst/>
          </a:prstGeom>
          <a:solidFill>
            <a:srgbClr val="00B65A"/>
          </a:solidFill>
          <a:ln/>
        </p:spPr>
      </p:sp>
      <p:sp>
        <p:nvSpPr>
          <p:cNvPr id="18" name="Text 15"/>
          <p:cNvSpPr/>
          <p:nvPr/>
        </p:nvSpPr>
        <p:spPr>
          <a:xfrm>
            <a:off x="609487" y="7230494"/>
            <a:ext cx="7103061" cy="410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en el PC del operador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móviles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conectados a la misma WiFi del Tello. FastAPI sirve el frontend, el video MJPEG y la telemetría WebSocket; no hay STUN/TURN ni auth — todo dentro de la red local.</a:t>
            </a:r>
            <a:endParaRPr lang="en-US" sz="1013" dirty="0"/>
          </a:p>
        </p:txBody>
      </p:sp>
      <p:sp>
        <p:nvSpPr>
          <p:cNvPr id="19" name="Shape 16"/>
          <p:cNvSpPr/>
          <p:nvPr/>
        </p:nvSpPr>
        <p:spPr>
          <a:xfrm>
            <a:off x="609487" y="7717329"/>
            <a:ext cx="1730375" cy="321658"/>
          </a:xfrm>
          <a:prstGeom prst="roundRect">
            <a:avLst>
              <a:gd name="adj" fmla="val 50000"/>
            </a:avLst>
          </a:prstGeom>
          <a:solidFill>
            <a:srgbClr val="0B0B0D"/>
          </a:solidFill>
          <a:ln w="12095">
            <a:solidFill>
              <a:srgbClr val="0B0B0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818" y="7839982"/>
            <a:ext cx="76162" cy="76162"/>
          </a:xfrm>
          <a:prstGeom prst="ellipse">
            <a:avLst/>
          </a:prstGeom>
          <a:solidFill>
            <a:srgbClr val="00B65A"/>
          </a:solidFill>
          <a:ln/>
          <a:effectLst>
            <a:outerShdw sx="100000" sy="100000" kx="0" ky="0" algn="bl" rotWithShape="0" blurRad="101600" dist="50800" dir="16200000">
              <a:srgbClr val="00B65A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07143" y="7805589"/>
            <a:ext cx="1363587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UVICORN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72140" y="7717329"/>
            <a:ext cx="1619250" cy="321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17472" y="7839982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24" name="Text 21"/>
          <p:cNvSpPr/>
          <p:nvPr/>
        </p:nvSpPr>
        <p:spPr>
          <a:xfrm>
            <a:off x="3569796" y="7805589"/>
            <a:ext cx="1252462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THREAD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23668" y="7717329"/>
            <a:ext cx="1681994" cy="3216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69000" y="7839982"/>
            <a:ext cx="76162" cy="76162"/>
          </a:xfrm>
          <a:prstGeom prst="ellipse">
            <a:avLst/>
          </a:prstGeom>
          <a:solidFill>
            <a:srgbClr val="B5B5BC"/>
          </a:solidFill>
          <a:ln/>
        </p:spPr>
      </p:sp>
      <p:sp>
        <p:nvSpPr>
          <p:cNvPr id="27" name="Text 24"/>
          <p:cNvSpPr/>
          <p:nvPr/>
        </p:nvSpPr>
        <p:spPr>
          <a:xfrm>
            <a:off x="6121324" y="7805589"/>
            <a:ext cx="1315206" cy="18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+ LAN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34149" y="1534018"/>
            <a:ext cx="6896365" cy="5833496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555" y="1698436"/>
            <a:ext cx="6686299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WEBAPP/SERVER.PY · ENDPOINTS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936555" y="2268801"/>
            <a:ext cx="6491552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1" name="Shape 28"/>
          <p:cNvSpPr/>
          <p:nvPr/>
        </p:nvSpPr>
        <p:spPr>
          <a:xfrm>
            <a:off x="7936555" y="2024253"/>
            <a:ext cx="533324" cy="178027"/>
          </a:xfrm>
          <a:prstGeom prst="roundRect">
            <a:avLst>
              <a:gd name="adj" fmla="val 32102"/>
            </a:avLst>
          </a:prstGeom>
          <a:solidFill>
            <a:srgbClr val="1F6BFF"/>
          </a:solidFill>
          <a:ln/>
        </p:spPr>
      </p:sp>
      <p:sp>
        <p:nvSpPr>
          <p:cNvPr id="32" name="Text 29"/>
          <p:cNvSpPr/>
          <p:nvPr/>
        </p:nvSpPr>
        <p:spPr>
          <a:xfrm>
            <a:off x="7974655" y="2052828"/>
            <a:ext cx="45712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spc="9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8584029" y="2040694"/>
            <a:ext cx="6019402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</a:t>
            </a:r>
            <a:pPr algn="l" indent="0" marL="0"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index.html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7936555" y="2629956"/>
            <a:ext cx="6491552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5" name="Shape 32"/>
          <p:cNvSpPr/>
          <p:nvPr/>
        </p:nvSpPr>
        <p:spPr>
          <a:xfrm>
            <a:off x="7936555" y="2385408"/>
            <a:ext cx="533324" cy="178027"/>
          </a:xfrm>
          <a:prstGeom prst="roundRect">
            <a:avLst>
              <a:gd name="adj" fmla="val 32102"/>
            </a:avLst>
          </a:prstGeom>
          <a:solidFill>
            <a:srgbClr val="1F6BFF"/>
          </a:solidFill>
          <a:ln/>
        </p:spPr>
      </p:sp>
      <p:sp>
        <p:nvSpPr>
          <p:cNvPr id="36" name="Text 33"/>
          <p:cNvSpPr/>
          <p:nvPr/>
        </p:nvSpPr>
        <p:spPr>
          <a:xfrm>
            <a:off x="7974655" y="2413983"/>
            <a:ext cx="45712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spc="9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8584029" y="2401849"/>
            <a:ext cx="6019402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/video </a:t>
            </a:r>
            <a:pPr algn="l" indent="0" marL="0"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MJPEG · 30 Hz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7936555" y="2991116"/>
            <a:ext cx="6491552" cy="12095"/>
          </a:xfrm>
          <a:prstGeom prst="rect">
            <a:avLst/>
          </a:prstGeom>
          <a:solidFill>
            <a:srgbClr val="E3E3E6"/>
          </a:solidFill>
          <a:ln/>
        </p:spPr>
      </p:sp>
      <p:sp>
        <p:nvSpPr>
          <p:cNvPr id="39" name="Shape 36"/>
          <p:cNvSpPr/>
          <p:nvPr/>
        </p:nvSpPr>
        <p:spPr>
          <a:xfrm>
            <a:off x="7936555" y="2746563"/>
            <a:ext cx="533324" cy="178027"/>
          </a:xfrm>
          <a:prstGeom prst="roundRect">
            <a:avLst>
              <a:gd name="adj" fmla="val 32102"/>
            </a:avLst>
          </a:prstGeom>
          <a:solidFill>
            <a:srgbClr val="FF8A00"/>
          </a:solidFill>
          <a:ln/>
        </p:spPr>
      </p:sp>
      <p:sp>
        <p:nvSpPr>
          <p:cNvPr id="40" name="Text 37"/>
          <p:cNvSpPr/>
          <p:nvPr/>
        </p:nvSpPr>
        <p:spPr>
          <a:xfrm>
            <a:off x="7974655" y="2775138"/>
            <a:ext cx="45712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spc="9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8584029" y="2763008"/>
            <a:ext cx="6019402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/ws/telemetry </a:t>
            </a:r>
            <a:pPr algn="l" indent="0" marL="0">
              <a:buNone/>
            </a:pPr>
            <a:r>
              <a:rPr lang="en-US" sz="975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 Hz JSON push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7936555" y="3107722"/>
            <a:ext cx="533324" cy="178027"/>
          </a:xfrm>
          <a:prstGeom prst="roundRect">
            <a:avLst>
              <a:gd name="adj" fmla="val 32102"/>
            </a:avLst>
          </a:prstGeom>
          <a:solidFill>
            <a:srgbClr val="00B65A"/>
          </a:solidFill>
          <a:ln/>
        </p:spPr>
      </p:sp>
      <p:sp>
        <p:nvSpPr>
          <p:cNvPr id="43" name="Text 40"/>
          <p:cNvSpPr/>
          <p:nvPr/>
        </p:nvSpPr>
        <p:spPr>
          <a:xfrm>
            <a:off x="7974655" y="3136297"/>
            <a:ext cx="457124" cy="158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b="1" spc="95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788" dirty="0"/>
          </a:p>
        </p:txBody>
      </p:sp>
      <p:sp>
        <p:nvSpPr>
          <p:cNvPr id="44" name="Text 41"/>
          <p:cNvSpPr/>
          <p:nvPr/>
        </p:nvSpPr>
        <p:spPr>
          <a:xfrm>
            <a:off x="8584029" y="3124163"/>
            <a:ext cx="960664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/cmd/{action}</a:t>
            </a:r>
            <a:endParaRPr lang="en-US" sz="975" dirty="0"/>
          </a:p>
        </p:txBody>
      </p:sp>
      <p:sp>
        <p:nvSpPr>
          <p:cNvPr id="45" name="Text 42"/>
          <p:cNvSpPr/>
          <p:nvPr/>
        </p:nvSpPr>
        <p:spPr>
          <a:xfrm>
            <a:off x="8660229" y="3288204"/>
            <a:ext cx="5943202" cy="22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takeoff_land toggle_manual enroll clear_lock stop set_target manual_set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734149" y="7443676"/>
            <a:ext cx="6896365" cy="595313"/>
          </a:xfrm>
          <a:prstGeom prst="roundRect">
            <a:avLst>
              <a:gd name="adj" fmla="val 22400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98644" y="7570071"/>
            <a:ext cx="6774266" cy="380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Dpad web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hold-to-move + heartbeat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ms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Si el navegador muere o cae la WiFi, los 4 ejes RC </a:t>
            </a:r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ponen a 0 en 0.6 s 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WEB_MANUAL_HEARTBEAT_GRACE_S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4A4A52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y el Tello mantiene posición con baro + optical-flow.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C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87" y="533326"/>
            <a:ext cx="234005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00528" y="533326"/>
            <a:ext cx="155197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2762" y="533326"/>
            <a:ext cx="1810922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 · LOGROS · NEXT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078479" y="533326"/>
            <a:ext cx="628234" cy="171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487" y="933036"/>
            <a:ext cx="14441658" cy="5820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spc="-147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Estado: vuela, identifica, mantiene la WebApp en pie.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09487" y="1534018"/>
            <a:ext cx="8001190" cy="779954"/>
          </a:xfrm>
          <a:prstGeom prst="roundRect">
            <a:avLst>
              <a:gd name="adj" fmla="val 2198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781" y="1752488"/>
            <a:ext cx="933450" cy="380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spc="-108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algn="r" indent="0" marL="0">
              <a:lnSpc>
                <a:spcPct val="100000"/>
              </a:lnSpc>
              <a:buNone/>
            </a:pPr>
            <a:r>
              <a:rPr lang="en-US" sz="1050" b="1" spc="-108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97630" y="1717523"/>
            <a:ext cx="6686299" cy="22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planificadas, 7 completas + Phase 12 a 70%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97630" y="1945821"/>
            <a:ext cx="6686299" cy="222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PID, FSM búsqueda, identidad lock y consola operativa — todo según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PROGRESS.md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609487" y="2428117"/>
            <a:ext cx="8001190" cy="779954"/>
          </a:xfrm>
          <a:prstGeom prst="roundRect">
            <a:avLst>
              <a:gd name="adj" fmla="val 2198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781" y="2646587"/>
            <a:ext cx="933450" cy="380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spc="-108" kern="0" dirty="0">
                <a:solidFill>
                  <a:srgbClr val="00B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91.9</a:t>
            </a:r>
            <a:pPr algn="r" indent="0" marL="0">
              <a:lnSpc>
                <a:spcPct val="100000"/>
              </a:lnSpc>
              <a:buNone/>
            </a:pPr>
            <a:r>
              <a:rPr lang="en-US" sz="1050" b="1" spc="-108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897630" y="2611627"/>
            <a:ext cx="6686299" cy="22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rate sostenido durante Phase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97630" y="2839924"/>
            <a:ext cx="6686299" cy="222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 de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56% → 91.9%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tunear iluminación y bajar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YAW_MAX_VELOCITY_CM_S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50. Steady-state ±30 px del centro.</a:t>
            </a:r>
            <a:endParaRPr lang="en-US" sz="938" dirty="0"/>
          </a:p>
        </p:txBody>
      </p:sp>
      <p:sp>
        <p:nvSpPr>
          <p:cNvPr id="15" name="Shape 13"/>
          <p:cNvSpPr/>
          <p:nvPr/>
        </p:nvSpPr>
        <p:spPr>
          <a:xfrm>
            <a:off x="609487" y="3322220"/>
            <a:ext cx="8001190" cy="779954"/>
          </a:xfrm>
          <a:prstGeom prst="roundRect">
            <a:avLst>
              <a:gd name="adj" fmla="val 2198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781" y="3540691"/>
            <a:ext cx="933450" cy="380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spc="-108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897630" y="3505730"/>
            <a:ext cx="6686299" cy="22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avoidance + diagonal-wall mitigation verificado en vuelo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97630" y="3734028"/>
            <a:ext cx="6686299" cy="222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stop a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cm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freeze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s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discontinuidad ToF. Cero crashes laterales en los runs de Phase 8.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609487" y="4216324"/>
            <a:ext cx="8001190" cy="779954"/>
          </a:xfrm>
          <a:prstGeom prst="roundRect">
            <a:avLst>
              <a:gd name="adj" fmla="val 21982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781" y="4434794"/>
            <a:ext cx="933450" cy="380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700" b="1" spc="-108" kern="0" dirty="0">
                <a:solidFill>
                  <a:srgbClr val="0B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897630" y="4399834"/>
            <a:ext cx="6686299" cy="228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spc="-12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 operativa en PC + móvil, misma WiFi del Tello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97630" y="4628131"/>
            <a:ext cx="6686299" cy="222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MJPEG + WS + dpad heartbeat 100 ms con kill-switch a 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 s</a:t>
            </a:r>
            <a:pPr algn="l" indent="0" marL="0">
              <a:lnSpc>
                <a:spcPct val="145000"/>
              </a:lnSpc>
              <a:buNone/>
            </a:pPr>
            <a:r>
              <a:rPr lang="en-US" sz="938" dirty="0">
                <a:solidFill>
                  <a:srgbClr val="4A4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Reconnect automático del WebSocket.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8915325" y="1534018"/>
            <a:ext cx="5715000" cy="2361973"/>
          </a:xfrm>
          <a:prstGeom prst="roundRect">
            <a:avLst>
              <a:gd name="adj" fmla="val 8872"/>
            </a:avLst>
          </a:prstGeom>
          <a:solidFill>
            <a:srgbClr val="0B0B0D"/>
          </a:solidFill>
          <a:ln/>
        </p:spPr>
      </p:sp>
      <p:sp>
        <p:nvSpPr>
          <p:cNvPr id="24" name="Text 22"/>
          <p:cNvSpPr/>
          <p:nvPr/>
        </p:nvSpPr>
        <p:spPr>
          <a:xfrm>
            <a:off x="9181986" y="1781589"/>
            <a:ext cx="5337126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STATUS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81986" y="2035778"/>
            <a:ext cx="533712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10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12 · WebApp Live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181986" y="2550016"/>
            <a:ext cx="5181676" cy="433917"/>
          </a:xfrm>
          <a:prstGeom prst="roundRect">
            <a:avLst>
              <a:gd name="adj" fmla="val 50000"/>
            </a:avLst>
          </a:prstGeom>
          <a:solidFill>
            <a:srgbClr val="00B65A"/>
          </a:solidFill>
          <a:ln w="12095">
            <a:solidFill>
              <a:srgbClr val="00B6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03481" y="2728801"/>
            <a:ext cx="76162" cy="7616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555805" y="2676260"/>
            <a:ext cx="2006336" cy="219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2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12 · WEBAPP LIVE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81986" y="3117168"/>
            <a:ext cx="5337126" cy="569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spc="3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7/12 PHASES DONE PHASE 12 · 70% · </a:t>
            </a:r>
            <a:pPr algn="l" indent="0" marL="0">
              <a:lnSpc>
                <a:spcPct val="155000"/>
              </a:lnSpc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 LIVE </a:t>
            </a:r>
            <a:pPr algn="l" indent="0" marL="0">
              <a:lnSpc>
                <a:spcPct val="155000"/>
              </a:lnSpc>
              <a:buNone/>
            </a:pPr>
            <a:r>
              <a:rPr lang="en-US" sz="900" spc="36" kern="0" dirty="0">
                <a:solidFill>
                  <a:srgbClr val="B5B5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close 12 / jump to 13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15325" y="5156350"/>
            <a:ext cx="5715000" cy="969131"/>
          </a:xfrm>
          <a:prstGeom prst="roundRect">
            <a:avLst>
              <a:gd name="adj" fmla="val 1769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6819" y="5339860"/>
            <a:ext cx="5430172" cy="18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8B8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36819" y="5542076"/>
            <a:ext cx="5430172" cy="43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spc="-6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Phase 12 (sliders PID + tuning desde la webapp), o saltar a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spc="-6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Kalman trajectory predictor (Phase 13) </a:t>
            </a:r>
            <a:pPr algn="l" indent="0" marL="0">
              <a:lnSpc>
                <a:spcPct val="140000"/>
              </a:lnSpc>
              <a:buNone/>
            </a:pPr>
            <a:r>
              <a:rPr lang="en-US" sz="1125" spc="-6" kern="0" dirty="0">
                <a:solidFill>
                  <a:srgbClr val="0B0B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adelantar la pose del objetivo.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915325" y="7385656"/>
            <a:ext cx="5715000" cy="653332"/>
          </a:xfrm>
          <a:prstGeom prst="roundRect">
            <a:avLst>
              <a:gd name="adj" fmla="val 20411"/>
            </a:avLst>
          </a:prstGeom>
          <a:solidFill>
            <a:srgbClr val="FFFFFF"/>
          </a:solidFill>
          <a:ln w="12095">
            <a:solidFill>
              <a:srgbClr val="E3E3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832" y="7530991"/>
            <a:ext cx="55084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b="1" spc="110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OF SCOPE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9098832" y="7747946"/>
            <a:ext cx="1819616" cy="159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Tkinter dashboard (Phase 3)</a:t>
            </a:r>
            <a:endParaRPr lang="en-US" sz="863" dirty="0"/>
          </a:p>
        </p:txBody>
      </p:sp>
      <p:sp>
        <p:nvSpPr>
          <p:cNvPr id="36" name="Text 34"/>
          <p:cNvSpPr/>
          <p:nvPr/>
        </p:nvSpPr>
        <p:spPr>
          <a:xfrm>
            <a:off x="10906693" y="7747946"/>
            <a:ext cx="140834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b="1" spc="35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63" dirty="0"/>
          </a:p>
        </p:txBody>
      </p:sp>
      <p:sp>
        <p:nvSpPr>
          <p:cNvPr id="37" name="Text 35"/>
          <p:cNvSpPr/>
          <p:nvPr/>
        </p:nvSpPr>
        <p:spPr>
          <a:xfrm>
            <a:off x="11035771" y="7747946"/>
            <a:ext cx="1819616" cy="159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Kalman predictor (Phase 13)</a:t>
            </a:r>
            <a:endParaRPr lang="en-US" sz="863" dirty="0"/>
          </a:p>
        </p:txBody>
      </p:sp>
      <p:sp>
        <p:nvSpPr>
          <p:cNvPr id="38" name="Text 36"/>
          <p:cNvSpPr/>
          <p:nvPr/>
        </p:nvSpPr>
        <p:spPr>
          <a:xfrm>
            <a:off x="12843820" y="7747946"/>
            <a:ext cx="140834" cy="1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b="1" spc="35" kern="0" dirty="0">
                <a:solidFill>
                  <a:srgbClr val="4A4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63" dirty="0"/>
          </a:p>
        </p:txBody>
      </p:sp>
      <p:sp>
        <p:nvSpPr>
          <p:cNvPr id="39" name="Text 37"/>
          <p:cNvSpPr/>
          <p:nvPr/>
        </p:nvSpPr>
        <p:spPr>
          <a:xfrm>
            <a:off x="12972899" y="7747946"/>
            <a:ext cx="1303111" cy="159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spc="35" kern="0" dirty="0">
                <a:solidFill>
                  <a:srgbClr val="8B8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sim2real (Phase 14)</a:t>
            </a:r>
            <a:endParaRPr lang="en-US" sz="8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2026-05-23T23:47:55Z</dcterms:created>
  <dcterms:modified xsi:type="dcterms:W3CDTF">2026-05-23T23:47:55Z</dcterms:modified>
</cp:coreProperties>
</file>