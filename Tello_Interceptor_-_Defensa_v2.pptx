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7" r:id="rId4"/>
    <p:sldId id="260" r:id="rId5"/>
    <p:sldId id="261" r:id="rId6"/>
    <p:sldId id="262" r:id="rId7"/>
    <p:sldId id="263" r:id="rId8"/>
  </p:sldIdLst>
  <p:sldSz cx="15240000" cy="8572500"/>
  <p:notesSz cx="8572500" cy="1524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84" y="-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8580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CEC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10668000" y="2095311"/>
            <a:ext cx="5714811" cy="57148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1811" y="2246218"/>
            <a:ext cx="14127869" cy="27202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700" b="1" kern="0" spc="-643" dirty="0">
                <a:solidFill>
                  <a:srgbClr val="0B0B0D"/>
                </a:solidFill>
                <a:latin typeface="Arial Black" panose="020B0A04020102020204" pitchFamily="34" charset="0"/>
                <a:ea typeface="Arial" pitchFamily="34" charset="-122"/>
                <a:cs typeface="Arial" pitchFamily="34" charset="-120"/>
              </a:rPr>
              <a:t>Tello </a:t>
            </a:r>
          </a:p>
          <a:p>
            <a:pPr marL="0" indent="0" algn="l">
              <a:lnSpc>
                <a:spcPct val="90000"/>
              </a:lnSpc>
              <a:buNone/>
            </a:pPr>
            <a:r>
              <a:rPr lang="en-US" sz="11700" b="1" kern="0" spc="-643" dirty="0">
                <a:solidFill>
                  <a:srgbClr val="0B0B0D"/>
                </a:solidFill>
                <a:latin typeface="Arial Black" panose="020B0A04020102020204" pitchFamily="34" charset="0"/>
                <a:ea typeface="Arial" pitchFamily="34" charset="-122"/>
                <a:cs typeface="Arial" pitchFamily="34" charset="-120"/>
              </a:rPr>
              <a:t>Interceptor</a:t>
            </a:r>
            <a:endParaRPr lang="en-US" sz="11700" dirty="0">
              <a:latin typeface="Arial Black" panose="020B0A040201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61811" y="5400902"/>
            <a:ext cx="8829480" cy="3467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-18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Intercepción autónoma indoor con </a:t>
            </a:r>
            <a:r>
              <a:rPr lang="en-US" sz="1800" b="1" kern="0" spc="-18" dirty="0" err="1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detección</a:t>
            </a:r>
            <a:r>
              <a:rPr lang="en-US" sz="1800" b="1" kern="0" spc="-18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kern="0" spc="-18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r>
              <a:rPr lang="en-US" sz="1800" b="1" kern="0" spc="-18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PIDs </a:t>
            </a:r>
            <a:r>
              <a:rPr lang="en-US" sz="1800" kern="0" spc="-18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r>
              <a:rPr lang="en-US" sz="1800" b="1" kern="0" spc="-18" dirty="0" err="1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ReID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61812" y="6052344"/>
            <a:ext cx="2067530" cy="347360"/>
          </a:xfrm>
          <a:prstGeom prst="roundRect">
            <a:avLst>
              <a:gd name="adj" fmla="val 0"/>
            </a:avLst>
          </a:prstGeom>
          <a:solidFill>
            <a:srgbClr val="00B65A"/>
          </a:solidFill>
          <a:ln w="12095">
            <a:solidFill>
              <a:srgbClr val="00B65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988843" y="6148879"/>
            <a:ext cx="1828800" cy="17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1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DJI ROBOMASTER TT</a:t>
            </a:r>
            <a:endParaRPr lang="en-US" sz="975" dirty="0"/>
          </a:p>
        </p:txBody>
      </p:sp>
      <p:sp>
        <p:nvSpPr>
          <p:cNvPr id="20" name="Shape 17"/>
          <p:cNvSpPr/>
          <p:nvPr/>
        </p:nvSpPr>
        <p:spPr>
          <a:xfrm>
            <a:off x="761811" y="7461817"/>
            <a:ext cx="13716378" cy="12095"/>
          </a:xfrm>
          <a:prstGeom prst="rect">
            <a:avLst/>
          </a:prstGeom>
          <a:solidFill>
            <a:srgbClr val="D6D6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8"/>
          <p:cNvSpPr/>
          <p:nvPr/>
        </p:nvSpPr>
        <p:spPr>
          <a:xfrm>
            <a:off x="761811" y="7518967"/>
            <a:ext cx="3734886" cy="1590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0B0D"/>
                </a:solidFill>
                <a:latin typeface="Arial" pitchFamily="34" charset="0"/>
                <a:cs typeface="Arial" pitchFamily="34" charset="-120"/>
              </a:rPr>
              <a:t>Pedro Fiol Benites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761811" y="7918035"/>
            <a:ext cx="3608565" cy="1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endParaRPr lang="en-US" sz="825" dirty="0"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5F9C1409-A291-51C9-E335-2941E9241A37}"/>
              </a:ext>
            </a:extLst>
          </p:cNvPr>
          <p:cNvSpPr/>
          <p:nvPr/>
        </p:nvSpPr>
        <p:spPr>
          <a:xfrm>
            <a:off x="777517" y="7965319"/>
            <a:ext cx="3369720" cy="1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32" dirty="0">
                <a:solidFill>
                  <a:schemeClr val="tx1">
                    <a:lumMod val="75000"/>
                    <a:lumOff val="25000"/>
                  </a:schemeClr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UPC EETAC PD 2026</a:t>
            </a:r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Tomorro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EC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609487" y="933034"/>
            <a:ext cx="14441658" cy="582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200" b="1" kern="0" spc="-147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y Stack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09487" y="1534017"/>
            <a:ext cx="14441658" cy="295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kern="0" spc="-1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RoboMaster TT con propeller guards + ToF frontal vía RmTTOC. Python. 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9487" y="2019527"/>
            <a:ext cx="6210905" cy="60194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754818" y="2164860"/>
            <a:ext cx="5941031" cy="5405438"/>
          </a:xfrm>
          <a:prstGeom prst="roundRect">
            <a:avLst>
              <a:gd name="adj" fmla="val 2467"/>
            </a:avLst>
          </a:prstGeom>
          <a:solidFill>
            <a:srgbClr val="1A1A1C"/>
          </a:solidFill>
          <a:ln/>
        </p:spPr>
        <p:txBody>
          <a:bodyPr/>
          <a:lstStyle/>
          <a:p>
            <a:endParaRPr lang="es-ES" dirty="0"/>
          </a:p>
        </p:txBody>
      </p:sp>
      <p:sp>
        <p:nvSpPr>
          <p:cNvPr id="11" name="Shape 8"/>
          <p:cNvSpPr/>
          <p:nvPr/>
        </p:nvSpPr>
        <p:spPr>
          <a:xfrm>
            <a:off x="868967" y="2279006"/>
            <a:ext cx="171412" cy="12095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868967" y="2279006"/>
            <a:ext cx="12095" cy="171412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6414646" y="2272518"/>
            <a:ext cx="171412" cy="12095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6573963" y="2272518"/>
            <a:ext cx="12095" cy="171412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Shape 12"/>
          <p:cNvSpPr/>
          <p:nvPr/>
        </p:nvSpPr>
        <p:spPr>
          <a:xfrm>
            <a:off x="868967" y="7444053"/>
            <a:ext cx="171412" cy="12095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868967" y="7284736"/>
            <a:ext cx="12095" cy="171412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6414646" y="7437565"/>
            <a:ext cx="171412" cy="12095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6573963" y="7278248"/>
            <a:ext cx="12095" cy="171412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811892" y="7626560"/>
            <a:ext cx="4165221" cy="178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36" dirty="0">
                <a:solidFill>
                  <a:srgbClr val="0B0B0D"/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DJI RoboMaster TT (Tello Talent)</a:t>
            </a:r>
            <a:endParaRPr lang="en-US" sz="2000" dirty="0">
              <a:latin typeface="Tomorrow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7921058" y="2019527"/>
            <a:ext cx="6709456" cy="3173299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25" name="Text 22"/>
          <p:cNvSpPr/>
          <p:nvPr/>
        </p:nvSpPr>
        <p:spPr>
          <a:xfrm>
            <a:off x="8066200" y="2051086"/>
            <a:ext cx="970265" cy="341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116" dirty="0">
                <a:solidFill>
                  <a:schemeClr val="tx1">
                    <a:lumMod val="85000"/>
                    <a:lumOff val="15000"/>
                  </a:schemeClr>
                </a:solidFill>
                <a:latin typeface="Tomorrow"/>
                <a:ea typeface="Arial" pitchFamily="34" charset="-122"/>
                <a:cs typeface="Arial" pitchFamily="34" charset="-120"/>
              </a:rPr>
              <a:t>STACK</a:t>
            </a:r>
            <a:endParaRPr 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Tomorrow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13391909" y="2216566"/>
            <a:ext cx="1093311" cy="1455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99" dirty="0">
                <a:solidFill>
                  <a:schemeClr val="tx1">
                    <a:lumMod val="85000"/>
                    <a:lumOff val="15000"/>
                  </a:schemeClr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PYTHON 3.12</a:t>
            </a:r>
            <a:endParaRPr lang="en-US" sz="1200" b="1" dirty="0">
              <a:solidFill>
                <a:schemeClr val="tx1">
                  <a:lumMod val="85000"/>
                  <a:lumOff val="15000"/>
                </a:schemeClr>
              </a:solidFill>
              <a:latin typeface="Tomorrow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8142552" y="2697238"/>
            <a:ext cx="6266468" cy="12095"/>
          </a:xfrm>
          <a:prstGeom prst="rect">
            <a:avLst/>
          </a:prstGeom>
          <a:solidFill>
            <a:srgbClr val="E3E3E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Text 25"/>
          <p:cNvSpPr/>
          <p:nvPr/>
        </p:nvSpPr>
        <p:spPr>
          <a:xfrm>
            <a:off x="8142552" y="2469130"/>
            <a:ext cx="1314261" cy="1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8B8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9532938" y="2457035"/>
            <a:ext cx="5022364" cy="18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b="1" dirty="0" err="1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djitellopy</a:t>
            </a:r>
            <a:r>
              <a:rPr lang="en-US" sz="1050" b="1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Tello SDK 3.0</a:t>
            </a:r>
            <a:endParaRPr lang="en-US" sz="1050" b="1" dirty="0"/>
          </a:p>
        </p:txBody>
      </p:sp>
      <p:sp>
        <p:nvSpPr>
          <p:cNvPr id="30" name="Shape 27"/>
          <p:cNvSpPr/>
          <p:nvPr/>
        </p:nvSpPr>
        <p:spPr>
          <a:xfrm>
            <a:off x="8142552" y="3082584"/>
            <a:ext cx="6266468" cy="12095"/>
          </a:xfrm>
          <a:prstGeom prst="rect">
            <a:avLst/>
          </a:prstGeom>
          <a:solidFill>
            <a:srgbClr val="E3E3E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Text 28"/>
          <p:cNvSpPr/>
          <p:nvPr/>
        </p:nvSpPr>
        <p:spPr>
          <a:xfrm>
            <a:off x="8142552" y="2854476"/>
            <a:ext cx="1314261" cy="1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8B8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9532938" y="2842381"/>
            <a:ext cx="5022364" cy="18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960 × 720 · ~30 FPS · H.264</a:t>
            </a:r>
            <a:endParaRPr lang="en-US" sz="1050" b="1" dirty="0"/>
          </a:p>
        </p:txBody>
      </p:sp>
      <p:sp>
        <p:nvSpPr>
          <p:cNvPr id="33" name="Shape 30"/>
          <p:cNvSpPr/>
          <p:nvPr/>
        </p:nvSpPr>
        <p:spPr>
          <a:xfrm>
            <a:off x="8142552" y="3467931"/>
            <a:ext cx="6266468" cy="12095"/>
          </a:xfrm>
          <a:prstGeom prst="rect">
            <a:avLst/>
          </a:prstGeom>
          <a:solidFill>
            <a:srgbClr val="E3E3E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" name="Text 31"/>
          <p:cNvSpPr/>
          <p:nvPr/>
        </p:nvSpPr>
        <p:spPr>
          <a:xfrm>
            <a:off x="8142552" y="3239822"/>
            <a:ext cx="1314261" cy="1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8B8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</a:t>
            </a:r>
            <a:endParaRPr lang="en-US" sz="825" dirty="0"/>
          </a:p>
        </p:txBody>
      </p:sp>
      <p:sp>
        <p:nvSpPr>
          <p:cNvPr id="35" name="Text 32"/>
          <p:cNvSpPr/>
          <p:nvPr/>
        </p:nvSpPr>
        <p:spPr>
          <a:xfrm>
            <a:off x="9532938" y="3227727"/>
            <a:ext cx="5022364" cy="18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Laptop rtx3060 · NVIDIA CUDA · torch</a:t>
            </a:r>
            <a:endParaRPr lang="en-US" sz="1050" b="1" dirty="0"/>
          </a:p>
        </p:txBody>
      </p:sp>
      <p:sp>
        <p:nvSpPr>
          <p:cNvPr id="36" name="Shape 33"/>
          <p:cNvSpPr/>
          <p:nvPr/>
        </p:nvSpPr>
        <p:spPr>
          <a:xfrm>
            <a:off x="8142552" y="3853279"/>
            <a:ext cx="6266468" cy="12095"/>
          </a:xfrm>
          <a:prstGeom prst="rect">
            <a:avLst/>
          </a:prstGeom>
          <a:solidFill>
            <a:srgbClr val="E3E3E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7" name="Text 34"/>
          <p:cNvSpPr/>
          <p:nvPr/>
        </p:nvSpPr>
        <p:spPr>
          <a:xfrm>
            <a:off x="8142552" y="3625171"/>
            <a:ext cx="1314261" cy="1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8B8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EXPANSIÓN</a:t>
            </a:r>
            <a:endParaRPr lang="en-US" sz="825" dirty="0"/>
          </a:p>
        </p:txBody>
      </p:sp>
      <p:sp>
        <p:nvSpPr>
          <p:cNvPr id="38" name="Text 35"/>
          <p:cNvSpPr/>
          <p:nvPr/>
        </p:nvSpPr>
        <p:spPr>
          <a:xfrm>
            <a:off x="9532938" y="3613074"/>
            <a:ext cx="5022364" cy="18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b="1" dirty="0" err="1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RmTTOC</a:t>
            </a:r>
            <a:r>
              <a:rPr lang="en-US" sz="1050" b="1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ESP32 · ToF VL53Lx · LED dot-matrix</a:t>
            </a:r>
            <a:endParaRPr lang="en-US" sz="1050" b="1" dirty="0"/>
          </a:p>
        </p:txBody>
      </p:sp>
      <p:sp>
        <p:nvSpPr>
          <p:cNvPr id="39" name="Shape 36"/>
          <p:cNvSpPr/>
          <p:nvPr/>
        </p:nvSpPr>
        <p:spPr>
          <a:xfrm>
            <a:off x="8142552" y="4238625"/>
            <a:ext cx="6266468" cy="12095"/>
          </a:xfrm>
          <a:prstGeom prst="rect">
            <a:avLst/>
          </a:prstGeom>
          <a:solidFill>
            <a:srgbClr val="E3E3E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0" name="Text 37"/>
          <p:cNvSpPr/>
          <p:nvPr/>
        </p:nvSpPr>
        <p:spPr>
          <a:xfrm>
            <a:off x="8142552" y="4010517"/>
            <a:ext cx="1314261" cy="1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8B8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 CV</a:t>
            </a:r>
            <a:endParaRPr lang="en-US" sz="825" dirty="0"/>
          </a:p>
        </p:txBody>
      </p:sp>
      <p:sp>
        <p:nvSpPr>
          <p:cNvPr id="41" name="Text 38"/>
          <p:cNvSpPr/>
          <p:nvPr/>
        </p:nvSpPr>
        <p:spPr>
          <a:xfrm>
            <a:off x="9532938" y="3998422"/>
            <a:ext cx="5022364" cy="18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ultralytics · torchreid · opencv · numpy</a:t>
            </a:r>
            <a:endParaRPr lang="en-US" sz="1050" b="1" dirty="0"/>
          </a:p>
        </p:txBody>
      </p:sp>
      <p:sp>
        <p:nvSpPr>
          <p:cNvPr id="42" name="Shape 39"/>
          <p:cNvSpPr/>
          <p:nvPr/>
        </p:nvSpPr>
        <p:spPr>
          <a:xfrm>
            <a:off x="8142552" y="4623972"/>
            <a:ext cx="6266468" cy="12095"/>
          </a:xfrm>
          <a:prstGeom prst="rect">
            <a:avLst/>
          </a:prstGeom>
          <a:solidFill>
            <a:srgbClr val="E3E3E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3" name="Text 40"/>
          <p:cNvSpPr/>
          <p:nvPr/>
        </p:nvSpPr>
        <p:spPr>
          <a:xfrm>
            <a:off x="8142552" y="4395863"/>
            <a:ext cx="1314261" cy="1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8B8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 WEB</a:t>
            </a:r>
            <a:endParaRPr lang="en-US" sz="825" dirty="0"/>
          </a:p>
        </p:txBody>
      </p:sp>
      <p:sp>
        <p:nvSpPr>
          <p:cNvPr id="44" name="Text 41"/>
          <p:cNvSpPr/>
          <p:nvPr/>
        </p:nvSpPr>
        <p:spPr>
          <a:xfrm>
            <a:off x="9532938" y="4383768"/>
            <a:ext cx="5022364" cy="18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 · uvicorn · pydantic · python-dotenv</a:t>
            </a:r>
            <a:endParaRPr lang="en-US" sz="1050" b="1" dirty="0"/>
          </a:p>
        </p:txBody>
      </p:sp>
      <p:sp>
        <p:nvSpPr>
          <p:cNvPr id="45" name="Text 42"/>
          <p:cNvSpPr/>
          <p:nvPr/>
        </p:nvSpPr>
        <p:spPr>
          <a:xfrm>
            <a:off x="8142552" y="4781209"/>
            <a:ext cx="1314261" cy="1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8B8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</a:t>
            </a:r>
            <a:endParaRPr lang="en-US" sz="825" dirty="0"/>
          </a:p>
        </p:txBody>
      </p:sp>
      <p:sp>
        <p:nvSpPr>
          <p:cNvPr id="46" name="Text 43"/>
          <p:cNvSpPr/>
          <p:nvPr/>
        </p:nvSpPr>
        <p:spPr>
          <a:xfrm>
            <a:off x="9532938" y="4769115"/>
            <a:ext cx="5022364" cy="18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.venv\Scripts\python.exe main.py</a:t>
            </a:r>
            <a:endParaRPr lang="en-US" sz="1050" b="1" dirty="0"/>
          </a:p>
        </p:txBody>
      </p:sp>
      <p:sp>
        <p:nvSpPr>
          <p:cNvPr id="47" name="Shape 44"/>
          <p:cNvSpPr/>
          <p:nvPr/>
        </p:nvSpPr>
        <p:spPr>
          <a:xfrm>
            <a:off x="7924063" y="5308807"/>
            <a:ext cx="572237" cy="347360"/>
          </a:xfrm>
          <a:prstGeom prst="roundRect">
            <a:avLst>
              <a:gd name="adj" fmla="val 50000"/>
            </a:avLst>
          </a:prstGeom>
          <a:solidFill>
            <a:srgbClr val="00B65A"/>
          </a:solidFill>
          <a:ln w="12095">
            <a:solidFill>
              <a:srgbClr val="00B65A"/>
            </a:solidFill>
            <a:prstDash val="solid"/>
          </a:ln>
        </p:spPr>
        <p:txBody>
          <a:bodyPr/>
          <a:lstStyle/>
          <a:p>
            <a:r>
              <a:rPr lang="es-ES" sz="1200" b="1" dirty="0">
                <a:latin typeface="Tomorrow"/>
              </a:rPr>
              <a:t>UDP</a:t>
            </a:r>
          </a:p>
        </p:txBody>
      </p:sp>
      <p:sp>
        <p:nvSpPr>
          <p:cNvPr id="49" name="Text 46"/>
          <p:cNvSpPr/>
          <p:nvPr/>
        </p:nvSpPr>
        <p:spPr>
          <a:xfrm>
            <a:off x="8256890" y="5452306"/>
            <a:ext cx="672458" cy="17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endParaRPr lang="en-US" sz="975" dirty="0"/>
          </a:p>
        </p:txBody>
      </p:sp>
      <p:sp>
        <p:nvSpPr>
          <p:cNvPr id="52" name="Text 49"/>
          <p:cNvSpPr/>
          <p:nvPr/>
        </p:nvSpPr>
        <p:spPr>
          <a:xfrm>
            <a:off x="9448649" y="5452306"/>
            <a:ext cx="1620422" cy="17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endParaRPr lang="en-US" sz="975" dirty="0"/>
          </a:p>
        </p:txBody>
      </p:sp>
      <p:sp>
        <p:nvSpPr>
          <p:cNvPr id="56" name="Shape 53"/>
          <p:cNvSpPr/>
          <p:nvPr/>
        </p:nvSpPr>
        <p:spPr>
          <a:xfrm>
            <a:off x="8589528" y="5295069"/>
            <a:ext cx="1718242" cy="347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r>
              <a:rPr lang="es-ES" sz="1200" b="1" dirty="0">
                <a:latin typeface="Tomorrow"/>
              </a:rPr>
              <a:t>Tello IP: 192.168.10.1</a:t>
            </a:r>
          </a:p>
        </p:txBody>
      </p:sp>
      <p:sp>
        <p:nvSpPr>
          <p:cNvPr id="58" name="Text 55"/>
          <p:cNvSpPr/>
          <p:nvPr/>
        </p:nvSpPr>
        <p:spPr>
          <a:xfrm>
            <a:off x="7747492" y="5905973"/>
            <a:ext cx="1891808" cy="17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endParaRPr lang="en-US" sz="1200" dirty="0">
              <a:latin typeface="Tomorrow"/>
            </a:endParaRPr>
          </a:p>
        </p:txBody>
      </p:sp>
      <p:pic>
        <p:nvPicPr>
          <p:cNvPr id="62" name="Imagen 61" descr="Juguete de plástico sobre una mesa&#10;&#10;El contenido generado por IA puede ser incorrecto.">
            <a:extLst>
              <a:ext uri="{FF2B5EF4-FFF2-40B4-BE49-F238E27FC236}">
                <a16:creationId xmlns:a16="http://schemas.microsoft.com/office/drawing/2014/main" id="{C461F398-105B-BB5A-D154-CDF0BF071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062" y="2291101"/>
            <a:ext cx="5681263" cy="5134370"/>
          </a:xfrm>
          <a:prstGeom prst="rect">
            <a:avLst/>
          </a:prstGeom>
        </p:spPr>
      </p:pic>
      <p:sp>
        <p:nvSpPr>
          <p:cNvPr id="63" name="Shape 50">
            <a:extLst>
              <a:ext uri="{FF2B5EF4-FFF2-40B4-BE49-F238E27FC236}">
                <a16:creationId xmlns:a16="http://schemas.microsoft.com/office/drawing/2014/main" id="{B849DDCA-8DD5-05C2-9E5D-A3899FC04601}"/>
              </a:ext>
            </a:extLst>
          </p:cNvPr>
          <p:cNvSpPr/>
          <p:nvPr/>
        </p:nvSpPr>
        <p:spPr>
          <a:xfrm>
            <a:off x="10400998" y="5297843"/>
            <a:ext cx="992434" cy="347360"/>
          </a:xfrm>
          <a:prstGeom prst="roundRect">
            <a:avLst>
              <a:gd name="adj" fmla="val 50000"/>
            </a:avLst>
          </a:prstGeom>
          <a:solidFill>
            <a:srgbClr val="FF8A00"/>
          </a:solidFill>
          <a:ln w="12095">
            <a:solidFill>
              <a:srgbClr val="FF8A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4" name="Text 52">
            <a:extLst>
              <a:ext uri="{FF2B5EF4-FFF2-40B4-BE49-F238E27FC236}">
                <a16:creationId xmlns:a16="http://schemas.microsoft.com/office/drawing/2014/main" id="{E023E878-E49A-975A-ACF0-BAC4B5A2F31E}"/>
              </a:ext>
            </a:extLst>
          </p:cNvPr>
          <p:cNvSpPr/>
          <p:nvPr/>
        </p:nvSpPr>
        <p:spPr>
          <a:xfrm>
            <a:off x="10610595" y="5385949"/>
            <a:ext cx="646756" cy="17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17" dirty="0">
                <a:solidFill>
                  <a:srgbClr val="FFFFFF"/>
                </a:solidFill>
                <a:latin typeface="Tomorrow"/>
                <a:ea typeface="Arial" pitchFamily="34" charset="-122"/>
                <a:cs typeface="Arial" pitchFamily="34" charset="-120"/>
              </a:rPr>
              <a:t>NO GPS</a:t>
            </a:r>
            <a:endParaRPr lang="en-US" sz="1200" b="1" dirty="0">
              <a:latin typeface="Tomorro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EC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12057" y="533324"/>
            <a:ext cx="160867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09487" y="933034"/>
            <a:ext cx="14441658" cy="582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200" b="1" kern="0" spc="-147" dirty="0" err="1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09486" y="1534016"/>
            <a:ext cx="14630513" cy="878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b="1" kern="0" spc="-8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hilo principal </a:t>
            </a:r>
            <a:r>
              <a:rPr lang="en-US" sz="1500" kern="0" spc="-8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el bucle de video con </a:t>
            </a:r>
            <a:r>
              <a:rPr lang="en-US" sz="1500" kern="0" spc="-8" dirty="0" err="1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percepción</a:t>
            </a:r>
            <a:r>
              <a:rPr lang="en-US" sz="1500" kern="0" spc="-8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decisión + control. 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500" b="1" kern="0" spc="-8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</a:t>
            </a:r>
            <a:r>
              <a:rPr lang="en-US" sz="1500" b="1" kern="0" spc="-8" dirty="0" err="1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hilos</a:t>
            </a:r>
            <a:r>
              <a:rPr lang="en-US" sz="1500" b="1" kern="0" spc="-8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kern="0" spc="-8" dirty="0" err="1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secundarios</a:t>
            </a:r>
            <a:r>
              <a:rPr lang="en-US" sz="1500" b="1" kern="0" spc="-8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kern="0" spc="-8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telemetría, </a:t>
            </a:r>
            <a:r>
              <a:rPr lang="en-US" sz="1500" kern="0" spc="-8" dirty="0" err="1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</a:t>
            </a:r>
            <a:r>
              <a:rPr lang="en-US" sz="1500" kern="0" spc="-8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sensors, RC y  webapp. Todas las llamadas al SDK serializadas por </a:t>
            </a:r>
            <a:r>
              <a:rPr lang="en-US" sz="1500" b="1" kern="0" spc="-8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_sdk_lock</a:t>
            </a:r>
            <a:r>
              <a:rPr lang="en-US" sz="1500" b="1" kern="0" spc="-8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b="1" dirty="0"/>
          </a:p>
        </p:txBody>
      </p:sp>
      <p:sp>
        <p:nvSpPr>
          <p:cNvPr id="8" name="Shape 6"/>
          <p:cNvSpPr/>
          <p:nvPr/>
        </p:nvSpPr>
        <p:spPr>
          <a:xfrm>
            <a:off x="609487" y="3246755"/>
            <a:ext cx="4419676" cy="2576853"/>
          </a:xfrm>
          <a:prstGeom prst="roundRect">
            <a:avLst>
              <a:gd name="adj" fmla="val 8132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862932" y="3512677"/>
            <a:ext cx="4017346" cy="3580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kern="0" spc="-72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Percepción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69156" y="3819522"/>
            <a:ext cx="4017346" cy="597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4A4A5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Detección + reidentificación de personas a partir del frame de video del Tello. 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00322" y="4404554"/>
            <a:ext cx="3900336" cy="12095"/>
          </a:xfrm>
          <a:prstGeom prst="rect">
            <a:avLst/>
          </a:prstGeom>
          <a:solidFill>
            <a:srgbClr val="E3E3E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900322" y="4556274"/>
            <a:ext cx="4017346" cy="19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00" b="1" kern="0" spc="35" dirty="0">
                <a:solidFill>
                  <a:srgbClr val="0B0B0D"/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YOLOv8s-pose </a:t>
            </a:r>
            <a:r>
              <a:rPr lang="en-US" sz="1400" b="1" kern="0" spc="35" dirty="0">
                <a:solidFill>
                  <a:srgbClr val="8B8B93"/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conf ≥ 0.8 · class 0</a:t>
            </a:r>
            <a:endParaRPr lang="en-US" sz="1400" b="1" dirty="0">
              <a:latin typeface="Tomorrow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00322" y="4776256"/>
            <a:ext cx="4017346" cy="19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00" b="1" kern="0" spc="35" dirty="0">
                <a:solidFill>
                  <a:srgbClr val="0B0B0D"/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7 keypoints </a:t>
            </a:r>
            <a:r>
              <a:rPr lang="en-US" sz="1400" b="1" kern="0" spc="35" dirty="0">
                <a:solidFill>
                  <a:srgbClr val="8B8B93"/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nose · eyes · ears · shoulders</a:t>
            </a:r>
            <a:endParaRPr lang="en-US" sz="1400" b="1" dirty="0">
              <a:latin typeface="Tomorrow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00322" y="4996238"/>
            <a:ext cx="4017346" cy="19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00" b="1" kern="0" spc="35" dirty="0" err="1">
                <a:solidFill>
                  <a:srgbClr val="0B0B0D"/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Pytorchreid</a:t>
            </a:r>
            <a:r>
              <a:rPr lang="en-US" sz="1400" b="1" kern="0" spc="35" dirty="0">
                <a:solidFill>
                  <a:srgbClr val="0B0B0D"/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b="1" kern="0" spc="35" dirty="0" err="1">
                <a:solidFill>
                  <a:srgbClr val="0B0B0D"/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OSNet</a:t>
            </a:r>
            <a:r>
              <a:rPr lang="en-US" sz="1400" b="1" kern="0" spc="35" dirty="0">
                <a:solidFill>
                  <a:srgbClr val="0B0B0D"/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 x0_25 </a:t>
            </a:r>
            <a:r>
              <a:rPr lang="en-US" sz="1400" b="1" kern="0" spc="35" dirty="0">
                <a:solidFill>
                  <a:srgbClr val="8B8B93"/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MSMT17 · embedding </a:t>
            </a:r>
            <a:endParaRPr lang="en-US" sz="1400" b="1" dirty="0">
              <a:latin typeface="Tomorrow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991063" y="3246755"/>
            <a:ext cx="457011" cy="2614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B8B93"/>
                </a:solidFill>
                <a:latin typeface="Arial Black" panose="020B0A04020102020204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400" dirty="0">
              <a:latin typeface="Arial Black" panose="020B0A040201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09785" y="3246755"/>
            <a:ext cx="4419865" cy="2576853"/>
          </a:xfrm>
          <a:prstGeom prst="roundRect">
            <a:avLst>
              <a:gd name="adj" fmla="val 8132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9" name="Text 17"/>
          <p:cNvSpPr/>
          <p:nvPr/>
        </p:nvSpPr>
        <p:spPr>
          <a:xfrm>
            <a:off x="5660401" y="3448855"/>
            <a:ext cx="4017541" cy="3580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kern="0" spc="-72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669643" y="3814359"/>
            <a:ext cx="4160196" cy="410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4A4A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</a:t>
            </a:r>
            <a:r>
              <a:rPr lang="en-US" sz="1200" b="1" dirty="0" err="1">
                <a:solidFill>
                  <a:srgbClr val="4A4A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estados</a:t>
            </a:r>
            <a:r>
              <a:rPr lang="en-US" sz="1200" b="1" dirty="0">
                <a:solidFill>
                  <a:srgbClr val="4A4A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input del </a:t>
            </a:r>
            <a:r>
              <a:rPr lang="en-US" sz="1200" b="1" dirty="0" err="1">
                <a:solidFill>
                  <a:srgbClr val="4A4A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usuario</a:t>
            </a:r>
            <a:br>
              <a:rPr lang="en-US" sz="1200" b="1" dirty="0">
                <a:solidFill>
                  <a:srgbClr val="4A4A5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718908" y="4200917"/>
            <a:ext cx="3900525" cy="12095"/>
          </a:xfrm>
          <a:prstGeom prst="rect">
            <a:avLst/>
          </a:prstGeom>
          <a:solidFill>
            <a:srgbClr val="E3E3E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5688044" y="4387879"/>
            <a:ext cx="4017541" cy="19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00" b="1" kern="0" spc="35" dirty="0">
                <a:solidFill>
                  <a:srgbClr val="0B0B0D"/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grounded </a:t>
            </a:r>
            <a:r>
              <a:rPr lang="en-US" sz="1400" b="1" kern="0" spc="35" dirty="0">
                <a:solidFill>
                  <a:srgbClr val="8B8B93"/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/ takeoff / land</a:t>
            </a:r>
            <a:endParaRPr lang="en-US" sz="1400" b="1" dirty="0">
              <a:latin typeface="Tomorrow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688044" y="4607861"/>
            <a:ext cx="4017541" cy="19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00" b="1" kern="0" spc="35" dirty="0">
                <a:solidFill>
                  <a:srgbClr val="0B0B0D"/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intercepting </a:t>
            </a:r>
            <a:r>
              <a:rPr lang="en-US" sz="1400" b="1" kern="0" spc="35" dirty="0">
                <a:solidFill>
                  <a:srgbClr val="8B8B93"/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/ hover (grace 4 s)</a:t>
            </a:r>
            <a:endParaRPr lang="en-US" sz="1400" b="1" dirty="0">
              <a:latin typeface="Tomorrow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688044" y="4827843"/>
            <a:ext cx="4017541" cy="19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00" b="1" kern="0" spc="35" dirty="0">
                <a:solidFill>
                  <a:srgbClr val="0B0B0D"/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searching </a:t>
            </a:r>
            <a:r>
              <a:rPr lang="en-US" sz="1400" b="1" kern="0" spc="35" dirty="0">
                <a:solidFill>
                  <a:srgbClr val="8B8B93"/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spin → advance</a:t>
            </a:r>
            <a:endParaRPr lang="en-US" sz="1400" b="1" dirty="0">
              <a:latin typeface="Tomorrow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688044" y="5047825"/>
            <a:ext cx="4017541" cy="19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00" b="1" kern="0" spc="35" dirty="0">
                <a:solidFill>
                  <a:srgbClr val="0B0B0D"/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manual </a:t>
            </a:r>
            <a:r>
              <a:rPr lang="en-US" sz="1400" b="1" kern="0" spc="35" dirty="0" err="1">
                <a:solidFill>
                  <a:srgbClr val="8B8B93"/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teclado</a:t>
            </a:r>
            <a:r>
              <a:rPr lang="en-US" sz="1400" b="1" kern="0" spc="35" dirty="0">
                <a:solidFill>
                  <a:srgbClr val="8B8B93"/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b="1" dirty="0">
              <a:latin typeface="Tomorrow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791738" y="3246755"/>
            <a:ext cx="457011" cy="2614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B8B93"/>
                </a:solidFill>
                <a:latin typeface="Arial Black" panose="020B0A04020102020204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400" b="1" dirty="0">
              <a:latin typeface="Arial Black" panose="020B0A040201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0210649" y="3246755"/>
            <a:ext cx="4419676" cy="2576853"/>
          </a:xfrm>
          <a:prstGeom prst="roundRect">
            <a:avLst>
              <a:gd name="adj" fmla="val 8132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29" name="Text 27"/>
          <p:cNvSpPr/>
          <p:nvPr/>
        </p:nvSpPr>
        <p:spPr>
          <a:xfrm>
            <a:off x="10467873" y="3461219"/>
            <a:ext cx="4017346" cy="3580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kern="0" spc="-72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0408004" y="3801562"/>
            <a:ext cx="4017346" cy="42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4A4A5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6 PID.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b="1" dirty="0" err="1">
                <a:solidFill>
                  <a:srgbClr val="4A4A5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Capas</a:t>
            </a:r>
            <a:r>
              <a:rPr lang="en-US" sz="1200" b="1" dirty="0">
                <a:solidFill>
                  <a:srgbClr val="4A4A5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de </a:t>
            </a:r>
            <a:r>
              <a:rPr lang="en-US" sz="1200" b="1" dirty="0" err="1">
                <a:solidFill>
                  <a:srgbClr val="4A4A5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seguridad</a:t>
            </a:r>
            <a:r>
              <a:rPr lang="en-US" sz="1200" b="1" dirty="0">
                <a:solidFill>
                  <a:srgbClr val="4A4A5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: </a:t>
            </a:r>
            <a:r>
              <a:rPr lang="en-US" sz="1200" b="1" dirty="0" err="1">
                <a:solidFill>
                  <a:srgbClr val="4A4A5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altitud</a:t>
            </a:r>
            <a:r>
              <a:rPr lang="en-US" sz="1200" b="1" dirty="0">
                <a:solidFill>
                  <a:srgbClr val="4A4A5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y ToF .</a:t>
            </a:r>
          </a:p>
        </p:txBody>
      </p:sp>
      <p:sp>
        <p:nvSpPr>
          <p:cNvPr id="31" name="Shape 29"/>
          <p:cNvSpPr/>
          <p:nvPr/>
        </p:nvSpPr>
        <p:spPr>
          <a:xfrm>
            <a:off x="10470508" y="4404554"/>
            <a:ext cx="3900336" cy="12095"/>
          </a:xfrm>
          <a:prstGeom prst="rect">
            <a:avLst/>
          </a:prstGeom>
          <a:solidFill>
            <a:srgbClr val="E3E3E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10575067" y="4561980"/>
            <a:ext cx="4017346" cy="19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00" b="1" kern="0" spc="35" dirty="0">
                <a:solidFill>
                  <a:srgbClr val="0B0B0D"/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6 PID </a:t>
            </a:r>
            <a:r>
              <a:rPr lang="en-US" sz="1600" kern="0" spc="35" dirty="0">
                <a:solidFill>
                  <a:srgbClr val="8B8B93"/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alt · alt-tgt · yaw · pitch×2 · roll</a:t>
            </a:r>
            <a:endParaRPr lang="en-US" sz="1600" dirty="0">
              <a:latin typeface="Tomorrow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0575067" y="4781962"/>
            <a:ext cx="4017346" cy="19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00" b="1" kern="0" spc="35" dirty="0">
                <a:solidFill>
                  <a:srgbClr val="0B0B0D"/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20 Hz </a:t>
            </a:r>
            <a:r>
              <a:rPr lang="en-US" sz="1600" kern="0" spc="35" dirty="0">
                <a:solidFill>
                  <a:srgbClr val="8B8B93"/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RC loop daemon</a:t>
            </a:r>
            <a:endParaRPr lang="en-US" sz="1600" dirty="0">
              <a:latin typeface="Tomorrow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0575067" y="5001944"/>
            <a:ext cx="4017346" cy="19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00" b="1" kern="0" spc="35" dirty="0" err="1">
                <a:solidFill>
                  <a:srgbClr val="0B0B0D"/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Seguridad</a:t>
            </a:r>
            <a:r>
              <a:rPr lang="en-US" sz="1600" b="1" kern="0" spc="35" dirty="0">
                <a:solidFill>
                  <a:srgbClr val="0B0B0D"/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kern="0" spc="35" dirty="0">
                <a:solidFill>
                  <a:srgbClr val="8B8B93"/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clamp · wall · freeze · hyst</a:t>
            </a:r>
            <a:endParaRPr lang="en-US" sz="1600" dirty="0">
              <a:latin typeface="Tomorro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EC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609487" y="933034"/>
            <a:ext cx="14441658" cy="61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200" b="1" kern="0" spc="-147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por embedding: </a:t>
            </a:r>
            <a:r>
              <a:rPr lang="en-US" sz="4200" b="1" kern="0" spc="-147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OSNet x0_25 · cosine</a:t>
            </a:r>
            <a:r>
              <a:rPr lang="en-US" sz="4200" b="1" kern="0" spc="-147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09487" y="1570302"/>
            <a:ext cx="14441658" cy="552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kern="0" spc="-1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0.30, EMA α=0.05 sobre el embedding.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9487" y="2312836"/>
            <a:ext cx="7044910" cy="5726150"/>
          </a:xfrm>
          <a:prstGeom prst="roundRect">
            <a:avLst>
              <a:gd name="adj" fmla="val 2994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9" name="Shape 7"/>
          <p:cNvSpPr/>
          <p:nvPr/>
        </p:nvSpPr>
        <p:spPr>
          <a:xfrm>
            <a:off x="850068" y="2823670"/>
            <a:ext cx="6563746" cy="12095"/>
          </a:xfrm>
          <a:prstGeom prst="rect">
            <a:avLst/>
          </a:prstGeom>
          <a:solidFill>
            <a:srgbClr val="E3E3E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850068" y="2534329"/>
            <a:ext cx="2788472" cy="23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900" b="1" kern="0" spc="126" dirty="0">
                <a:latin typeface="Arial Black" panose="020B0A04020102020204" pitchFamily="34" charset="0"/>
                <a:ea typeface="Courier New" pitchFamily="34" charset="-122"/>
                <a:cs typeface="Courier New" pitchFamily="34" charset="-120"/>
              </a:rPr>
              <a:t>TARGET.PY · SELECT_TARGET_PERSON</a:t>
            </a:r>
            <a:endParaRPr lang="en-US" sz="900" b="1" dirty="0">
              <a:latin typeface="Arial Black" panose="020B0A040201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383515" y="2478927"/>
            <a:ext cx="2106499" cy="23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100" b="1" kern="0" spc="126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  <a:ea typeface="Courier New" pitchFamily="34" charset="-122"/>
                <a:cs typeface="Courier New" pitchFamily="34" charset="-120"/>
              </a:rPr>
              <a:t>Pytorch</a:t>
            </a:r>
            <a:r>
              <a:rPr lang="en-US" sz="1100" b="1" kern="0" spc="126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kern="0" spc="126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  <a:ea typeface="Courier New" pitchFamily="34" charset="-122"/>
                <a:cs typeface="Courier New" pitchFamily="34" charset="-120"/>
              </a:rPr>
              <a:t>ReID</a:t>
            </a:r>
            <a:endParaRPr lang="en-US" sz="1100" b="1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50068" y="2993192"/>
            <a:ext cx="285599" cy="2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825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25" dirty="0"/>
          </a:p>
        </p:txBody>
      </p:sp>
      <p:sp>
        <p:nvSpPr>
          <p:cNvPr id="13" name="Shape 11"/>
          <p:cNvSpPr/>
          <p:nvPr/>
        </p:nvSpPr>
        <p:spPr>
          <a:xfrm>
            <a:off x="1097151" y="3031290"/>
            <a:ext cx="209399" cy="209399"/>
          </a:xfrm>
          <a:prstGeom prst="roundRect">
            <a:avLst>
              <a:gd name="adj" fmla="val 27292"/>
            </a:avLst>
          </a:prstGeom>
          <a:solidFill>
            <a:srgbClr val="0B0B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1135629" y="2977507"/>
            <a:ext cx="285599" cy="2474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1478454" y="2969001"/>
            <a:ext cx="6113421" cy="750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400" dirty="0">
                <a:solidFill>
                  <a:srgbClr val="1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not </a:t>
            </a:r>
            <a:r>
              <a:rPr lang="en-US" sz="140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lock.is_set: </a:t>
            </a:r>
            <a:r>
              <a:rPr lang="en-US" sz="1400" b="1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sin lock</a:t>
            </a:r>
          </a:p>
          <a:p>
            <a:pPr marL="0" indent="0" algn="l">
              <a:lnSpc>
                <a:spcPct val="170000"/>
              </a:lnSpc>
              <a:buNone/>
            </a:pPr>
            <a:r>
              <a:rPr lang="en-US" sz="1400" dirty="0">
                <a:solidFill>
                  <a:srgbClr val="1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r>
              <a:rPr lang="en-US" sz="1400" dirty="0" err="1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select_best_person</a:t>
            </a:r>
            <a:r>
              <a:rPr lang="en-US" sz="140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(persons, </a:t>
            </a:r>
            <a:r>
              <a:rPr lang="en-US" sz="1400" dirty="0" err="1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last_pt</a:t>
            </a:r>
            <a:r>
              <a:rPr lang="en-US" sz="140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marL="0" indent="0" algn="l">
              <a:lnSpc>
                <a:spcPct val="170000"/>
              </a:lnSpc>
              <a:buNone/>
            </a:pP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850068" y="3268170"/>
            <a:ext cx="285599" cy="2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825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1478454" y="3243981"/>
            <a:ext cx="6113421" cy="248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850068" y="3511397"/>
            <a:ext cx="285599" cy="2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825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850068" y="3770500"/>
            <a:ext cx="285599" cy="2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825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25" dirty="0"/>
          </a:p>
        </p:txBody>
      </p:sp>
      <p:sp>
        <p:nvSpPr>
          <p:cNvPr id="20" name="Shape 18"/>
          <p:cNvSpPr/>
          <p:nvPr/>
        </p:nvSpPr>
        <p:spPr>
          <a:xfrm>
            <a:off x="1097151" y="3805482"/>
            <a:ext cx="209399" cy="209399"/>
          </a:xfrm>
          <a:prstGeom prst="roundRect">
            <a:avLst>
              <a:gd name="adj" fmla="val 27292"/>
            </a:avLst>
          </a:prstGeom>
          <a:solidFill>
            <a:srgbClr val="0B0B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1135629" y="3754813"/>
            <a:ext cx="285599" cy="2474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1478454" y="3746311"/>
            <a:ext cx="6113421" cy="750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</a:t>
            </a:r>
            <a:r>
              <a:rPr lang="en-US" sz="1600" dirty="0" err="1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ReidEmbedder</a:t>
            </a:r>
            <a:endParaRPr lang="en-US" sz="1600" dirty="0">
              <a:solidFill>
                <a:srgbClr val="8B8B93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>
              <a:lnSpc>
                <a:spcPct val="170000"/>
              </a:lnSpc>
            </a:pPr>
            <a:r>
              <a:rPr lang="en-US" sz="2500" dirty="0" err="1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embs</a:t>
            </a:r>
            <a:r>
              <a:rPr lang="en-US" sz="250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2500" dirty="0" err="1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reid.embed_batch</a:t>
            </a:r>
            <a:r>
              <a:rPr lang="en-US" sz="250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</a:t>
            </a:r>
            <a:r>
              <a:rPr lang="en-US" sz="2500" dirty="0" err="1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crop_bbox</a:t>
            </a:r>
            <a:r>
              <a:rPr lang="en-US" sz="250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(frame, p) </a:t>
            </a:r>
            <a:r>
              <a:rPr lang="en-US" sz="2500" dirty="0">
                <a:solidFill>
                  <a:srgbClr val="1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r>
              <a:rPr lang="en-US" sz="250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</a:t>
            </a:r>
            <a:r>
              <a:rPr lang="en-US" sz="2500" dirty="0">
                <a:solidFill>
                  <a:srgbClr val="1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r>
              <a:rPr lang="en-US" sz="250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persons])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850068" y="4045479"/>
            <a:ext cx="285599" cy="2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825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1478454" y="4021289"/>
            <a:ext cx="6113421" cy="248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850068" y="4288706"/>
            <a:ext cx="285599" cy="2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825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850068" y="4547811"/>
            <a:ext cx="285599" cy="2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825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825" dirty="0"/>
          </a:p>
        </p:txBody>
      </p:sp>
      <p:sp>
        <p:nvSpPr>
          <p:cNvPr id="27" name="Shape 25"/>
          <p:cNvSpPr/>
          <p:nvPr/>
        </p:nvSpPr>
        <p:spPr>
          <a:xfrm>
            <a:off x="1094013" y="4570223"/>
            <a:ext cx="209399" cy="209399"/>
          </a:xfrm>
          <a:prstGeom prst="roundRect">
            <a:avLst>
              <a:gd name="adj" fmla="val 27292"/>
            </a:avLst>
          </a:prstGeom>
          <a:solidFill>
            <a:srgbClr val="0B0B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1135629" y="4532123"/>
            <a:ext cx="285599" cy="2474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1478454" y="4523616"/>
            <a:ext cx="6113421" cy="1044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40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cosine distance vs locked vector</a:t>
            </a:r>
          </a:p>
          <a:p>
            <a:pPr>
              <a:lnSpc>
                <a:spcPct val="170000"/>
              </a:lnSpc>
            </a:pPr>
            <a:r>
              <a:rPr lang="en-US" sz="1400" dirty="0" err="1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dists</a:t>
            </a:r>
            <a:r>
              <a:rPr lang="en-US" sz="140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400" dirty="0">
                <a:solidFill>
                  <a:srgbClr val="1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r>
              <a:rPr lang="en-US" sz="140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</a:t>
            </a:r>
            <a:r>
              <a:rPr lang="en-US" sz="1400" dirty="0" err="1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embs</a:t>
            </a:r>
            <a:r>
              <a:rPr lang="en-US" sz="140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@ </a:t>
            </a:r>
            <a:r>
              <a:rPr lang="en-US" sz="1400" dirty="0" err="1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lock.embedding</a:t>
            </a:r>
            <a:r>
              <a:rPr lang="en-US" sz="140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 err="1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40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400" dirty="0" err="1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argmin</a:t>
            </a:r>
            <a:r>
              <a:rPr lang="en-US" sz="140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dirty="0" err="1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dists</a:t>
            </a:r>
            <a:r>
              <a:rPr lang="en-US" sz="140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1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r>
              <a:rPr lang="en-US" sz="1400" dirty="0" err="1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dists</a:t>
            </a:r>
            <a:r>
              <a:rPr lang="en-US" sz="140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400" dirty="0" err="1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40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&gt; 0.30: </a:t>
            </a:r>
            <a:r>
              <a:rPr lang="en-US" sz="140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LOCK_MATCH_THRESHOLD</a:t>
            </a:r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1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r>
              <a:rPr lang="en-US" sz="140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 </a:t>
            </a:r>
            <a:r>
              <a:rPr lang="en-US" sz="140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sin match </a:t>
            </a:r>
            <a:r>
              <a:rPr lang="en-US" sz="1400" dirty="0" err="1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este</a:t>
            </a:r>
            <a:r>
              <a:rPr lang="en-US" sz="140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frame</a:t>
            </a:r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EMA blend del embedding (α = 0.05) + renormalize</a:t>
            </a:r>
          </a:p>
          <a:p>
            <a:pPr>
              <a:lnSpc>
                <a:spcPct val="170000"/>
              </a:lnSpc>
            </a:pPr>
            <a:r>
              <a:rPr lang="en-US" sz="1400" dirty="0" err="1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lock.update</a:t>
            </a:r>
            <a:r>
              <a:rPr lang="en-US" sz="140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dirty="0" err="1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embs</a:t>
            </a:r>
            <a:r>
              <a:rPr lang="en-US" sz="140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400" dirty="0" err="1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40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1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r>
              <a:rPr lang="en-US" sz="140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persons[</a:t>
            </a:r>
            <a:r>
              <a:rPr lang="en-US" sz="1400" dirty="0" err="1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40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  <a:p>
            <a:pPr>
              <a:lnSpc>
                <a:spcPct val="170000"/>
              </a:lnSpc>
            </a:pPr>
            <a:endParaRPr lang="en-US" sz="1400" dirty="0"/>
          </a:p>
          <a:p>
            <a:pPr>
              <a:lnSpc>
                <a:spcPct val="170000"/>
              </a:lnSpc>
            </a:pPr>
            <a:endParaRPr lang="en-US" sz="1400" dirty="0"/>
          </a:p>
          <a:p>
            <a:pPr>
              <a:lnSpc>
                <a:spcPct val="170000"/>
              </a:lnSpc>
            </a:pPr>
            <a:endParaRPr lang="en-US" sz="1400" dirty="0"/>
          </a:p>
          <a:p>
            <a:pPr>
              <a:lnSpc>
                <a:spcPct val="170000"/>
              </a:lnSpc>
            </a:pPr>
            <a:endParaRPr lang="en-US" sz="1400" dirty="0"/>
          </a:p>
          <a:p>
            <a:pPr>
              <a:lnSpc>
                <a:spcPct val="170000"/>
              </a:lnSpc>
            </a:pP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50068" y="4822785"/>
            <a:ext cx="285599" cy="2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825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1478454" y="4798595"/>
            <a:ext cx="6113421" cy="248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850068" y="5090206"/>
            <a:ext cx="285599" cy="2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825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1478454" y="5066016"/>
            <a:ext cx="6113421" cy="248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850068" y="5333433"/>
            <a:ext cx="285599" cy="2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825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850068" y="5592533"/>
            <a:ext cx="285599" cy="2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825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25" dirty="0"/>
          </a:p>
        </p:txBody>
      </p:sp>
      <p:sp>
        <p:nvSpPr>
          <p:cNvPr id="36" name="Shape 34"/>
          <p:cNvSpPr/>
          <p:nvPr/>
        </p:nvSpPr>
        <p:spPr>
          <a:xfrm>
            <a:off x="1059581" y="5731060"/>
            <a:ext cx="209399" cy="209399"/>
          </a:xfrm>
          <a:prstGeom prst="roundRect">
            <a:avLst>
              <a:gd name="adj" fmla="val 27292"/>
            </a:avLst>
          </a:prstGeom>
          <a:solidFill>
            <a:srgbClr val="0B0B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1094013" y="5679581"/>
            <a:ext cx="285599" cy="2474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1478454" y="5568344"/>
            <a:ext cx="6113421" cy="248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850068" y="5867512"/>
            <a:ext cx="285599" cy="2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825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1478454" y="5843322"/>
            <a:ext cx="6113421" cy="248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endParaRPr lang="en-US" sz="975" dirty="0"/>
          </a:p>
        </p:txBody>
      </p:sp>
      <p:sp>
        <p:nvSpPr>
          <p:cNvPr id="41" name="Text 39"/>
          <p:cNvSpPr/>
          <p:nvPr/>
        </p:nvSpPr>
        <p:spPr>
          <a:xfrm>
            <a:off x="850068" y="6110739"/>
            <a:ext cx="285599" cy="2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825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25" dirty="0"/>
          </a:p>
        </p:txBody>
      </p:sp>
      <p:sp>
        <p:nvSpPr>
          <p:cNvPr id="42" name="Text 40"/>
          <p:cNvSpPr/>
          <p:nvPr/>
        </p:nvSpPr>
        <p:spPr>
          <a:xfrm>
            <a:off x="850068" y="6369844"/>
            <a:ext cx="285599" cy="2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825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25" dirty="0"/>
          </a:p>
        </p:txBody>
      </p:sp>
      <p:sp>
        <p:nvSpPr>
          <p:cNvPr id="43" name="Shape 41"/>
          <p:cNvSpPr/>
          <p:nvPr/>
        </p:nvSpPr>
        <p:spPr>
          <a:xfrm>
            <a:off x="1071070" y="6481082"/>
            <a:ext cx="209399" cy="209399"/>
          </a:xfrm>
          <a:prstGeom prst="roundRect">
            <a:avLst>
              <a:gd name="adj" fmla="val 27292"/>
            </a:avLst>
          </a:prstGeom>
          <a:solidFill>
            <a:srgbClr val="0B0B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/>
          <p:nvPr/>
        </p:nvSpPr>
        <p:spPr>
          <a:xfrm>
            <a:off x="1105939" y="6427805"/>
            <a:ext cx="285599" cy="2474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25" dirty="0"/>
          </a:p>
        </p:txBody>
      </p:sp>
      <p:sp>
        <p:nvSpPr>
          <p:cNvPr id="45" name="Text 43"/>
          <p:cNvSpPr/>
          <p:nvPr/>
        </p:nvSpPr>
        <p:spPr>
          <a:xfrm>
            <a:off x="1478454" y="6345655"/>
            <a:ext cx="6113421" cy="248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endParaRPr lang="en-US" sz="975" dirty="0"/>
          </a:p>
        </p:txBody>
      </p:sp>
      <p:sp>
        <p:nvSpPr>
          <p:cNvPr id="46" name="Text 44"/>
          <p:cNvSpPr/>
          <p:nvPr/>
        </p:nvSpPr>
        <p:spPr>
          <a:xfrm>
            <a:off x="850068" y="6644822"/>
            <a:ext cx="285599" cy="2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825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25" dirty="0"/>
          </a:p>
        </p:txBody>
      </p:sp>
      <p:sp>
        <p:nvSpPr>
          <p:cNvPr id="47" name="Text 45"/>
          <p:cNvSpPr/>
          <p:nvPr/>
        </p:nvSpPr>
        <p:spPr>
          <a:xfrm>
            <a:off x="1478454" y="6620628"/>
            <a:ext cx="6113421" cy="248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endParaRPr lang="en-US" sz="975" dirty="0"/>
          </a:p>
        </p:txBody>
      </p:sp>
      <p:sp>
        <p:nvSpPr>
          <p:cNvPr id="48" name="Text 46"/>
          <p:cNvSpPr/>
          <p:nvPr/>
        </p:nvSpPr>
        <p:spPr>
          <a:xfrm>
            <a:off x="850068" y="6912239"/>
            <a:ext cx="285599" cy="2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825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825" dirty="0"/>
          </a:p>
        </p:txBody>
      </p:sp>
      <p:sp>
        <p:nvSpPr>
          <p:cNvPr id="49" name="Text 47"/>
          <p:cNvSpPr/>
          <p:nvPr/>
        </p:nvSpPr>
        <p:spPr>
          <a:xfrm>
            <a:off x="1478454" y="6888049"/>
            <a:ext cx="6113421" cy="248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endParaRPr lang="en-US" sz="975" dirty="0"/>
          </a:p>
        </p:txBody>
      </p:sp>
      <p:sp>
        <p:nvSpPr>
          <p:cNvPr id="50" name="Shape 48"/>
          <p:cNvSpPr/>
          <p:nvPr/>
        </p:nvSpPr>
        <p:spPr>
          <a:xfrm>
            <a:off x="7921058" y="2312836"/>
            <a:ext cx="6709456" cy="3678842"/>
          </a:xfrm>
          <a:prstGeom prst="roundRect">
            <a:avLst>
              <a:gd name="adj" fmla="val 4660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Text 49"/>
          <p:cNvSpPr/>
          <p:nvPr/>
        </p:nvSpPr>
        <p:spPr>
          <a:xfrm>
            <a:off x="8104566" y="2584600"/>
            <a:ext cx="4129859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126" dirty="0">
                <a:solidFill>
                  <a:srgbClr val="8B8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PERSONAS · COSINE DISTANCE VS VECTOR ENROLADO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2958536" y="2496343"/>
            <a:ext cx="1488470" cy="309563"/>
          </a:xfrm>
          <a:prstGeom prst="roundRect">
            <a:avLst>
              <a:gd name="adj" fmla="val 50000"/>
            </a:avLst>
          </a:prstGeom>
          <a:solidFill>
            <a:srgbClr val="FF2D2D"/>
          </a:solidFill>
          <a:ln w="12095">
            <a:solidFill>
              <a:srgbClr val="FF2D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Shape 51"/>
          <p:cNvSpPr/>
          <p:nvPr/>
        </p:nvSpPr>
        <p:spPr>
          <a:xfrm>
            <a:off x="13103868" y="2612947"/>
            <a:ext cx="76162" cy="7616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4" name="Text 52"/>
          <p:cNvSpPr/>
          <p:nvPr/>
        </p:nvSpPr>
        <p:spPr>
          <a:xfrm>
            <a:off x="13256192" y="2584600"/>
            <a:ext cx="1121683" cy="17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· D = 0.11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104566" y="2920054"/>
            <a:ext cx="6342441" cy="2888116"/>
          </a:xfrm>
          <a:prstGeom prst="roundRect">
            <a:avLst>
              <a:gd name="adj" fmla="val 3958"/>
            </a:avLst>
          </a:prstGeom>
          <a:solidFill>
            <a:srgbClr val="0A0A0C"/>
          </a:solidFill>
          <a:ln w="12095">
            <a:solidFill>
              <a:srgbClr val="0B0B0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Shape 54"/>
          <p:cNvSpPr/>
          <p:nvPr/>
        </p:nvSpPr>
        <p:spPr>
          <a:xfrm>
            <a:off x="11275787" y="2932149"/>
            <a:ext cx="9525" cy="2863926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7" name="Shape 55"/>
          <p:cNvSpPr/>
          <p:nvPr/>
        </p:nvSpPr>
        <p:spPr>
          <a:xfrm>
            <a:off x="8116661" y="4364110"/>
            <a:ext cx="631825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8" name="Shape 56"/>
          <p:cNvSpPr/>
          <p:nvPr/>
        </p:nvSpPr>
        <p:spPr>
          <a:xfrm>
            <a:off x="8558893" y="3791290"/>
            <a:ext cx="1137141" cy="1718280"/>
          </a:xfrm>
          <a:prstGeom prst="roundRect">
            <a:avLst>
              <a:gd name="adj" fmla="val 1675"/>
            </a:avLst>
          </a:prstGeom>
          <a:solidFill>
            <a:srgbClr val="00B65A">
              <a:alpha val="4000"/>
            </a:srgbClr>
          </a:solidFill>
          <a:ln w="12095">
            <a:solidFill>
              <a:srgbClr val="00B65A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Shape 57"/>
          <p:cNvSpPr/>
          <p:nvPr/>
        </p:nvSpPr>
        <p:spPr>
          <a:xfrm>
            <a:off x="8552089" y="3593985"/>
            <a:ext cx="1131850" cy="279702"/>
          </a:xfrm>
          <a:prstGeom prst="roundRect">
            <a:avLst>
              <a:gd name="adj" fmla="val 13622"/>
            </a:avLst>
          </a:prstGeom>
          <a:solidFill>
            <a:srgbClr val="00B65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0" name="Text 58"/>
          <p:cNvSpPr/>
          <p:nvPr/>
        </p:nvSpPr>
        <p:spPr>
          <a:xfrm>
            <a:off x="8609239" y="3613035"/>
            <a:ext cx="1093750" cy="279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0.47 · REJECT</a:t>
            </a:r>
            <a:endParaRPr lang="en-US" sz="825" dirty="0"/>
          </a:p>
        </p:txBody>
      </p:sp>
      <p:sp>
        <p:nvSpPr>
          <p:cNvPr id="61" name="Shape 59"/>
          <p:cNvSpPr/>
          <p:nvPr/>
        </p:nvSpPr>
        <p:spPr>
          <a:xfrm>
            <a:off x="10391132" y="3332994"/>
            <a:ext cx="1768929" cy="2291103"/>
          </a:xfrm>
          <a:prstGeom prst="roundRect">
            <a:avLst>
              <a:gd name="adj" fmla="val 1077"/>
            </a:avLst>
          </a:prstGeom>
          <a:solidFill>
            <a:srgbClr val="FF2D2D">
              <a:alpha val="6000"/>
            </a:srgbClr>
          </a:solidFill>
          <a:ln w="24190">
            <a:solidFill>
              <a:srgbClr val="FF2D2D"/>
            </a:solidFill>
            <a:prstDash val="solid"/>
          </a:ln>
          <a:effectLst>
            <a:outerShdw blurRad="101600" dist="50800" dir="16200000" algn="bl" rotWithShape="0">
              <a:srgbClr val="FF2D2D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2" name="Shape 60"/>
          <p:cNvSpPr/>
          <p:nvPr/>
        </p:nvSpPr>
        <p:spPr>
          <a:xfrm>
            <a:off x="10396424" y="3147785"/>
            <a:ext cx="1220485" cy="158750"/>
          </a:xfrm>
          <a:prstGeom prst="roundRect">
            <a:avLst>
              <a:gd name="adj" fmla="val 24000"/>
            </a:avLst>
          </a:prstGeom>
          <a:solidFill>
            <a:srgbClr val="FF2D2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3" name="Text 61"/>
          <p:cNvSpPr/>
          <p:nvPr/>
        </p:nvSpPr>
        <p:spPr>
          <a:xfrm>
            <a:off x="10453574" y="3166835"/>
            <a:ext cx="1182385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0.11 · MATCH</a:t>
            </a:r>
            <a:endParaRPr lang="en-US" sz="825" dirty="0"/>
          </a:p>
        </p:txBody>
      </p:sp>
      <p:sp>
        <p:nvSpPr>
          <p:cNvPr id="64" name="Shape 62"/>
          <p:cNvSpPr/>
          <p:nvPr/>
        </p:nvSpPr>
        <p:spPr>
          <a:xfrm>
            <a:off x="12792038" y="4020345"/>
            <a:ext cx="1074019" cy="1489226"/>
          </a:xfrm>
          <a:prstGeom prst="roundRect">
            <a:avLst>
              <a:gd name="adj" fmla="val 1774"/>
            </a:avLst>
          </a:prstGeom>
          <a:solidFill>
            <a:srgbClr val="00B65A">
              <a:alpha val="4000"/>
            </a:srgbClr>
          </a:solidFill>
          <a:ln w="12095">
            <a:solidFill>
              <a:srgbClr val="00B65A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5" name="Shape 63"/>
          <p:cNvSpPr/>
          <p:nvPr/>
        </p:nvSpPr>
        <p:spPr>
          <a:xfrm>
            <a:off x="12785234" y="3823041"/>
            <a:ext cx="1068728" cy="279702"/>
          </a:xfrm>
          <a:prstGeom prst="roundRect">
            <a:avLst>
              <a:gd name="adj" fmla="val 13622"/>
            </a:avLst>
          </a:prstGeom>
          <a:solidFill>
            <a:srgbClr val="00B65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6" name="Text 64"/>
          <p:cNvSpPr/>
          <p:nvPr/>
        </p:nvSpPr>
        <p:spPr>
          <a:xfrm>
            <a:off x="12842384" y="3842091"/>
            <a:ext cx="1030628" cy="279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0.38 · REJECT</a:t>
            </a:r>
            <a:endParaRPr lang="en-US" sz="825" dirty="0"/>
          </a:p>
        </p:txBody>
      </p:sp>
      <p:sp>
        <p:nvSpPr>
          <p:cNvPr id="68" name="Shape 66"/>
          <p:cNvSpPr/>
          <p:nvPr/>
        </p:nvSpPr>
        <p:spPr>
          <a:xfrm>
            <a:off x="7921058" y="6163089"/>
            <a:ext cx="6709456" cy="832871"/>
          </a:xfrm>
          <a:prstGeom prst="roundRect">
            <a:avLst>
              <a:gd name="adj" fmla="val 16011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9" name="Shape 67"/>
          <p:cNvSpPr/>
          <p:nvPr/>
        </p:nvSpPr>
        <p:spPr>
          <a:xfrm>
            <a:off x="8066390" y="6289332"/>
            <a:ext cx="1433475" cy="271009"/>
          </a:xfrm>
          <a:prstGeom prst="roundRect">
            <a:avLst>
              <a:gd name="adj" fmla="val 28117"/>
            </a:avLst>
          </a:prstGeom>
          <a:solidFill>
            <a:srgbClr val="F6F6F7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0" name="Shape 68"/>
          <p:cNvSpPr/>
          <p:nvPr/>
        </p:nvSpPr>
        <p:spPr>
          <a:xfrm>
            <a:off x="8173546" y="6339418"/>
            <a:ext cx="201650" cy="170845"/>
          </a:xfrm>
          <a:prstGeom prst="roundRect">
            <a:avLst>
              <a:gd name="adj" fmla="val 22301"/>
            </a:avLst>
          </a:prstGeom>
          <a:solidFill>
            <a:srgbClr val="0B0B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1" name="Text 69"/>
          <p:cNvSpPr/>
          <p:nvPr/>
        </p:nvSpPr>
        <p:spPr>
          <a:xfrm>
            <a:off x="8240221" y="6358468"/>
            <a:ext cx="144500" cy="170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8432271" y="6358314"/>
            <a:ext cx="1036637" cy="17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Enroll / cycle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9576028" y="6289332"/>
            <a:ext cx="1159064" cy="271009"/>
          </a:xfrm>
          <a:prstGeom prst="roundRect">
            <a:avLst>
              <a:gd name="adj" fmla="val 28117"/>
            </a:avLst>
          </a:prstGeom>
          <a:solidFill>
            <a:srgbClr val="F6F6F7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4" name="Shape 72"/>
          <p:cNvSpPr/>
          <p:nvPr/>
        </p:nvSpPr>
        <p:spPr>
          <a:xfrm>
            <a:off x="9683184" y="6339418"/>
            <a:ext cx="201650" cy="170845"/>
          </a:xfrm>
          <a:prstGeom prst="roundRect">
            <a:avLst>
              <a:gd name="adj" fmla="val 22301"/>
            </a:avLst>
          </a:prstGeom>
          <a:solidFill>
            <a:srgbClr val="0B0B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5" name="Text 73"/>
          <p:cNvSpPr/>
          <p:nvPr/>
        </p:nvSpPr>
        <p:spPr>
          <a:xfrm>
            <a:off x="9749859" y="6358468"/>
            <a:ext cx="144500" cy="170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9941908" y="6358314"/>
            <a:ext cx="762228" cy="17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 lock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8066390" y="6636507"/>
            <a:ext cx="3918290" cy="233211"/>
          </a:xfrm>
          <a:prstGeom prst="roundRect">
            <a:avLst>
              <a:gd name="adj" fmla="val 32674"/>
            </a:avLst>
          </a:prstGeom>
          <a:solidFill>
            <a:srgbClr val="F6F6F7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78" name="Text 76"/>
          <p:cNvSpPr/>
          <p:nvPr/>
        </p:nvSpPr>
        <p:spPr>
          <a:xfrm>
            <a:off x="8173735" y="6686702"/>
            <a:ext cx="3821148" cy="1709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/cmd/lock · /cmd/lock_target {x,y} · /cmd/clear_lock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EC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87" y="533326"/>
            <a:ext cx="245533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126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2057" y="533326"/>
            <a:ext cx="160867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960" y="533326"/>
            <a:ext cx="2275644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 · 6 PID · MODE FSM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038225" y="533326"/>
            <a:ext cx="668489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09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09487" y="933031"/>
            <a:ext cx="14441658" cy="582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200" b="1" kern="0" spc="-147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PID discretos. Cuatro ejes RC.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09487" y="1534018"/>
            <a:ext cx="4597514" cy="2264455"/>
          </a:xfrm>
          <a:prstGeom prst="roundRect">
            <a:avLst>
              <a:gd name="adj" fmla="val 7571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92994" y="1698436"/>
            <a:ext cx="792276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-24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ALTITUDE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35664" y="1746814"/>
            <a:ext cx="364029" cy="146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88" b="1" kern="0" spc="95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BARO</a:t>
            </a:r>
            <a:endParaRPr lang="en-US" sz="788" dirty="0"/>
          </a:p>
        </p:txBody>
      </p:sp>
      <p:sp>
        <p:nvSpPr>
          <p:cNvPr id="10" name="Text 8"/>
          <p:cNvSpPr/>
          <p:nvPr/>
        </p:nvSpPr>
        <p:spPr>
          <a:xfrm>
            <a:off x="792994" y="1962829"/>
            <a:ext cx="4357414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-37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 Ki Kd </a:t>
            </a:r>
            <a:r>
              <a:rPr lang="en-US" sz="1500" b="1" kern="0" spc="-37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</a:t>
            </a:r>
            <a:r>
              <a:rPr lang="en-US" sz="1500" b="1" kern="0" spc="-37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r>
              <a:rPr lang="en-US" sz="1500" b="1" kern="0" spc="-37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0.04</a:t>
            </a:r>
            <a:r>
              <a:rPr lang="en-US" sz="1500" b="1" kern="0" spc="-37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r>
              <a:rPr lang="en-US" sz="1500" b="1" kern="0" spc="-37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0.08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2994" y="3443929"/>
            <a:ext cx="4230499" cy="12095"/>
          </a:xfrm>
          <a:prstGeom prst="rect">
            <a:avLst/>
          </a:prstGeom>
          <a:solidFill>
            <a:srgbClr val="E3E3E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792994" y="3513175"/>
            <a:ext cx="4357414" cy="158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3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 error </a:t>
            </a:r>
            <a:r>
              <a:rPr lang="en-US" sz="825" kern="0" spc="33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825" kern="0" spc="33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ud</a:t>
            </a:r>
            <a:endParaRPr lang="en-US" sz="825" dirty="0"/>
          </a:p>
        </p:txBody>
      </p:sp>
      <p:sp>
        <p:nvSpPr>
          <p:cNvPr id="13" name="Shape 11"/>
          <p:cNvSpPr/>
          <p:nvPr/>
        </p:nvSpPr>
        <p:spPr>
          <a:xfrm>
            <a:off x="5321149" y="1534018"/>
            <a:ext cx="4597514" cy="2264455"/>
          </a:xfrm>
          <a:prstGeom prst="roundRect">
            <a:avLst>
              <a:gd name="adj" fmla="val 7571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5504656" y="1698436"/>
            <a:ext cx="1417260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-24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ALTITUDE TARGET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015488" y="1746814"/>
            <a:ext cx="795867" cy="146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88" b="1" kern="0" spc="95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PX · IMG-Y</a:t>
            </a:r>
            <a:endParaRPr lang="en-US" sz="788" dirty="0"/>
          </a:p>
        </p:txBody>
      </p:sp>
      <p:sp>
        <p:nvSpPr>
          <p:cNvPr id="16" name="Text 14"/>
          <p:cNvSpPr/>
          <p:nvPr/>
        </p:nvSpPr>
        <p:spPr>
          <a:xfrm>
            <a:off x="5504656" y="1962829"/>
            <a:ext cx="4357414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-37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 Ki Kd </a:t>
            </a:r>
            <a:r>
              <a:rPr lang="en-US" sz="1500" b="1" kern="0" spc="-37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−0.15</a:t>
            </a:r>
            <a:r>
              <a:rPr lang="en-US" sz="1500" b="1" kern="0" spc="-37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r>
              <a:rPr lang="en-US" sz="1500" b="1" kern="0" spc="-37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−0.004</a:t>
            </a:r>
            <a:r>
              <a:rPr lang="en-US" sz="1500" b="1" kern="0" spc="-37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r>
              <a:rPr lang="en-US" sz="1500" b="1" kern="0" spc="-37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−0.08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504656" y="3443929"/>
            <a:ext cx="4230499" cy="12095"/>
          </a:xfrm>
          <a:prstGeom prst="rect">
            <a:avLst/>
          </a:prstGeom>
          <a:solidFill>
            <a:srgbClr val="E3E3E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5504656" y="3513175"/>
            <a:ext cx="4357414" cy="158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3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px error </a:t>
            </a:r>
            <a:r>
              <a:rPr lang="en-US" sz="825" kern="0" spc="33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825" kern="0" spc="33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ud</a:t>
            </a:r>
            <a:endParaRPr lang="en-US" sz="825" dirty="0"/>
          </a:p>
        </p:txBody>
      </p:sp>
      <p:sp>
        <p:nvSpPr>
          <p:cNvPr id="19" name="Shape 17"/>
          <p:cNvSpPr/>
          <p:nvPr/>
        </p:nvSpPr>
        <p:spPr>
          <a:xfrm>
            <a:off x="10032811" y="1534018"/>
            <a:ext cx="4597703" cy="2264455"/>
          </a:xfrm>
          <a:prstGeom prst="roundRect">
            <a:avLst>
              <a:gd name="adj" fmla="val 7571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10216319" y="1698436"/>
            <a:ext cx="397291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-24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YAW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511515" y="1746814"/>
            <a:ext cx="1011691" cy="146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88" b="1" kern="0" spc="95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PX · TARGET_X</a:t>
            </a:r>
            <a:endParaRPr lang="en-US" sz="788" dirty="0"/>
          </a:p>
        </p:txBody>
      </p:sp>
      <p:sp>
        <p:nvSpPr>
          <p:cNvPr id="22" name="Text 20"/>
          <p:cNvSpPr/>
          <p:nvPr/>
        </p:nvSpPr>
        <p:spPr>
          <a:xfrm>
            <a:off x="10216319" y="1962829"/>
            <a:ext cx="4357608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-37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 Ki Kd </a:t>
            </a:r>
            <a:r>
              <a:rPr lang="en-US" sz="1500" b="1" kern="0" spc="-37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</a:t>
            </a:r>
            <a:r>
              <a:rPr lang="en-US" sz="1500" b="1" kern="0" spc="-37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r>
              <a:rPr lang="en-US" sz="1500" b="1" kern="0" spc="-37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0.003</a:t>
            </a:r>
            <a:r>
              <a:rPr lang="en-US" sz="1500" b="1" kern="0" spc="-37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r>
              <a:rPr lang="en-US" sz="1500" b="1" kern="0" spc="-37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0216319" y="3443929"/>
            <a:ext cx="4230688" cy="12095"/>
          </a:xfrm>
          <a:prstGeom prst="rect">
            <a:avLst/>
          </a:prstGeom>
          <a:solidFill>
            <a:srgbClr val="E3E3E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10216319" y="3513175"/>
            <a:ext cx="4357608" cy="158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3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px error </a:t>
            </a:r>
            <a:r>
              <a:rPr lang="en-US" sz="825" kern="0" spc="33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825" kern="0" spc="33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yaw</a:t>
            </a:r>
            <a:endParaRPr lang="en-US" sz="825" dirty="0"/>
          </a:p>
        </p:txBody>
      </p:sp>
      <p:sp>
        <p:nvSpPr>
          <p:cNvPr id="25" name="Shape 23"/>
          <p:cNvSpPr/>
          <p:nvPr/>
        </p:nvSpPr>
        <p:spPr>
          <a:xfrm>
            <a:off x="609487" y="3912622"/>
            <a:ext cx="4597514" cy="2264455"/>
          </a:xfrm>
          <a:prstGeom prst="roundRect">
            <a:avLst>
              <a:gd name="adj" fmla="val 7571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792994" y="4077040"/>
            <a:ext cx="901700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-24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· ToF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303826" y="4125423"/>
            <a:ext cx="795867" cy="146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88" b="1" kern="0" spc="95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 · FRONT</a:t>
            </a:r>
            <a:endParaRPr lang="en-US" sz="788" dirty="0"/>
          </a:p>
        </p:txBody>
      </p:sp>
      <p:sp>
        <p:nvSpPr>
          <p:cNvPr id="28" name="Text 26"/>
          <p:cNvSpPr/>
          <p:nvPr/>
        </p:nvSpPr>
        <p:spPr>
          <a:xfrm>
            <a:off x="792994" y="4341433"/>
            <a:ext cx="4357414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-37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 Ki Kd </a:t>
            </a:r>
            <a:r>
              <a:rPr lang="en-US" sz="1500" b="1" kern="0" spc="-37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−0.85</a:t>
            </a:r>
            <a:r>
              <a:rPr lang="en-US" sz="1500" b="1" kern="0" spc="-37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r>
              <a:rPr lang="en-US" sz="1500" b="1" kern="0" spc="-37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−0.02</a:t>
            </a:r>
            <a:r>
              <a:rPr lang="en-US" sz="1500" b="1" kern="0" spc="-37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r>
              <a:rPr lang="en-US" sz="1500" b="1" kern="0" spc="-37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−0.42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92994" y="5822533"/>
            <a:ext cx="4230499" cy="12095"/>
          </a:xfrm>
          <a:prstGeom prst="rect">
            <a:avLst/>
          </a:prstGeom>
          <a:solidFill>
            <a:srgbClr val="E3E3E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792994" y="5891778"/>
            <a:ext cx="4357414" cy="158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3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 error </a:t>
            </a:r>
            <a:r>
              <a:rPr lang="en-US" sz="825" kern="0" spc="33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825" kern="0" spc="33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fb</a:t>
            </a:r>
            <a:endParaRPr lang="en-US" sz="825" dirty="0"/>
          </a:p>
        </p:txBody>
      </p:sp>
      <p:sp>
        <p:nvSpPr>
          <p:cNvPr id="31" name="Shape 29"/>
          <p:cNvSpPr/>
          <p:nvPr/>
        </p:nvSpPr>
        <p:spPr>
          <a:xfrm>
            <a:off x="5321149" y="3912622"/>
            <a:ext cx="4597514" cy="2264455"/>
          </a:xfrm>
          <a:prstGeom prst="roundRect">
            <a:avLst>
              <a:gd name="adj" fmla="val 7571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5504656" y="4077040"/>
            <a:ext cx="1070844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-24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· BBOX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511835" y="4125423"/>
            <a:ext cx="1299520" cy="146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88" b="1" kern="0" spc="95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RATIO · CLOSENESS</a:t>
            </a:r>
            <a:endParaRPr lang="en-US" sz="788" dirty="0"/>
          </a:p>
        </p:txBody>
      </p:sp>
      <p:sp>
        <p:nvSpPr>
          <p:cNvPr id="34" name="Text 32"/>
          <p:cNvSpPr/>
          <p:nvPr/>
        </p:nvSpPr>
        <p:spPr>
          <a:xfrm>
            <a:off x="5504656" y="4341433"/>
            <a:ext cx="4357414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-37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 Ki Kd </a:t>
            </a:r>
            <a:r>
              <a:rPr lang="en-US" sz="1500" b="1" kern="0" spc="-37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r>
              <a:rPr lang="en-US" sz="1500" b="1" kern="0" spc="-37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r>
              <a:rPr lang="en-US" sz="1500" b="1" kern="0" spc="-37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500" b="1" kern="0" spc="-37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r>
              <a:rPr lang="en-US" sz="1500" b="1" kern="0" spc="-37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504656" y="5822533"/>
            <a:ext cx="4230499" cy="12095"/>
          </a:xfrm>
          <a:prstGeom prst="rect">
            <a:avLst/>
          </a:prstGeom>
          <a:solidFill>
            <a:srgbClr val="E3E3E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5504656" y="5891778"/>
            <a:ext cx="4357414" cy="158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3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ratio error </a:t>
            </a:r>
            <a:r>
              <a:rPr lang="en-US" sz="825" kern="0" spc="33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825" kern="0" spc="33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fb</a:t>
            </a:r>
            <a:endParaRPr lang="en-US" sz="825" dirty="0"/>
          </a:p>
        </p:txBody>
      </p:sp>
      <p:sp>
        <p:nvSpPr>
          <p:cNvPr id="37" name="Shape 35"/>
          <p:cNvSpPr/>
          <p:nvPr/>
        </p:nvSpPr>
        <p:spPr>
          <a:xfrm>
            <a:off x="10032811" y="3912622"/>
            <a:ext cx="4597703" cy="2264455"/>
          </a:xfrm>
          <a:prstGeom prst="roundRect">
            <a:avLst>
              <a:gd name="adj" fmla="val 7571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10216319" y="4077040"/>
            <a:ext cx="462303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-24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3079678" y="4125423"/>
            <a:ext cx="1443529" cy="146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88" b="1" kern="0" spc="95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PX · DEAD-ZONE BBOX</a:t>
            </a:r>
            <a:endParaRPr lang="en-US" sz="788" dirty="0"/>
          </a:p>
        </p:txBody>
      </p:sp>
      <p:sp>
        <p:nvSpPr>
          <p:cNvPr id="40" name="Text 38"/>
          <p:cNvSpPr/>
          <p:nvPr/>
        </p:nvSpPr>
        <p:spPr>
          <a:xfrm>
            <a:off x="10216319" y="4341433"/>
            <a:ext cx="4357608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-37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 Ki Kd </a:t>
            </a:r>
            <a:r>
              <a:rPr lang="en-US" sz="1500" b="1" kern="0" spc="-37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</a:t>
            </a:r>
            <a:r>
              <a:rPr lang="en-US" sz="1500" b="1" kern="0" spc="-37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r>
              <a:rPr lang="en-US" sz="1500" b="1" kern="0" spc="-37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</a:t>
            </a:r>
            <a:r>
              <a:rPr lang="en-US" sz="1500" b="1" kern="0" spc="-37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r>
              <a:rPr lang="en-US" sz="1500" b="1" kern="0" spc="-37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0.15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10216319" y="5822533"/>
            <a:ext cx="4230688" cy="12095"/>
          </a:xfrm>
          <a:prstGeom prst="rect">
            <a:avLst/>
          </a:prstGeom>
          <a:solidFill>
            <a:srgbClr val="E3E3E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10216319" y="5891778"/>
            <a:ext cx="4357608" cy="158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3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px error </a:t>
            </a:r>
            <a:r>
              <a:rPr lang="en-US" sz="825" kern="0" spc="33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825" kern="0" spc="33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</a:t>
            </a:r>
            <a:endParaRPr lang="en-US" sz="825" dirty="0"/>
          </a:p>
        </p:txBody>
      </p:sp>
      <p:sp>
        <p:nvSpPr>
          <p:cNvPr id="43" name="Shape 41"/>
          <p:cNvSpPr/>
          <p:nvPr/>
        </p:nvSpPr>
        <p:spPr>
          <a:xfrm>
            <a:off x="3700670" y="6396413"/>
            <a:ext cx="7838659" cy="1709586"/>
          </a:xfrm>
          <a:prstGeom prst="roundRect">
            <a:avLst>
              <a:gd name="adj" fmla="val 10029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/>
          <p:nvPr/>
        </p:nvSpPr>
        <p:spPr>
          <a:xfrm>
            <a:off x="3922164" y="6560831"/>
            <a:ext cx="7617541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126" dirty="0">
                <a:solidFill>
                  <a:srgbClr val="8B8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 DISCRETA · FORMA ESTÁNDAR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922164" y="6770041"/>
            <a:ext cx="7395671" cy="357943"/>
          </a:xfrm>
          <a:prstGeom prst="roundRect">
            <a:avLst>
              <a:gd name="adj" fmla="val 21288"/>
            </a:avLst>
          </a:prstGeom>
          <a:solidFill>
            <a:srgbClr val="F6F6F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6" name="Shape 44"/>
          <p:cNvSpPr/>
          <p:nvPr/>
        </p:nvSpPr>
        <p:spPr>
          <a:xfrm>
            <a:off x="3922164" y="7115889"/>
            <a:ext cx="7395671" cy="12095"/>
          </a:xfrm>
          <a:prstGeom prst="rect">
            <a:avLst/>
          </a:prstGeom>
          <a:solidFill>
            <a:srgbClr val="E3E3E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7" name="Shape 45"/>
          <p:cNvSpPr/>
          <p:nvPr/>
        </p:nvSpPr>
        <p:spPr>
          <a:xfrm>
            <a:off x="3922164" y="6770041"/>
            <a:ext cx="7395671" cy="12095"/>
          </a:xfrm>
          <a:prstGeom prst="rect">
            <a:avLst/>
          </a:prstGeom>
          <a:solidFill>
            <a:srgbClr val="E3E3E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8" name="Text 46"/>
          <p:cNvSpPr/>
          <p:nvPr/>
        </p:nvSpPr>
        <p:spPr>
          <a:xfrm>
            <a:off x="3811229" y="6858336"/>
            <a:ext cx="7617541" cy="219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275" kern="0" spc="-13" dirty="0">
                <a:solidFill>
                  <a:srgbClr val="0B0B0D"/>
                </a:solidFill>
                <a:highlight>
                  <a:srgbClr val="F6F6F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u(k) </a:t>
            </a:r>
            <a:r>
              <a:rPr lang="en-US" sz="1275" kern="0" spc="-13" dirty="0">
                <a:solidFill>
                  <a:srgbClr val="1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1275" b="1" kern="0" spc="-13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r>
              <a:rPr lang="en-US" sz="1275" b="1" kern="0" spc="-13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en-US" sz="1275" kern="0" spc="-13" dirty="0">
                <a:solidFill>
                  <a:srgbClr val="0B0B0D"/>
                </a:solidFill>
                <a:highlight>
                  <a:srgbClr val="F6F6F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·e(k) </a:t>
            </a:r>
            <a:r>
              <a:rPr lang="en-US" sz="1275" kern="0" spc="-13" dirty="0">
                <a:solidFill>
                  <a:srgbClr val="1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</a:t>
            </a:r>
            <a:r>
              <a:rPr lang="en-US" sz="1275" b="1" kern="0" spc="-13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r>
              <a:rPr lang="en-US" sz="1275" b="1" kern="0" spc="-13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275" kern="0" spc="-13" dirty="0">
                <a:solidFill>
                  <a:srgbClr val="0B0B0D"/>
                </a:solidFill>
                <a:highlight>
                  <a:srgbClr val="F6F6F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·Σe(k)·dt </a:t>
            </a:r>
            <a:r>
              <a:rPr lang="en-US" sz="1275" kern="0" spc="-13" dirty="0">
                <a:solidFill>
                  <a:srgbClr val="1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</a:t>
            </a:r>
            <a:r>
              <a:rPr lang="en-US" sz="1275" b="1" kern="0" spc="-13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r>
              <a:rPr lang="en-US" sz="1275" b="1" kern="0" spc="-13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r>
              <a:rPr lang="en-US" sz="1275" kern="0" spc="-13" dirty="0">
                <a:solidFill>
                  <a:srgbClr val="0B0B0D"/>
                </a:solidFill>
                <a:highlight>
                  <a:srgbClr val="F6F6F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·[e(k)−e(k−1)]/dt</a:t>
            </a:r>
            <a:endParaRPr lang="en-US" sz="1275" dirty="0"/>
          </a:p>
        </p:txBody>
      </p:sp>
      <p:sp>
        <p:nvSpPr>
          <p:cNvPr id="49" name="Text 47"/>
          <p:cNvSpPr/>
          <p:nvPr/>
        </p:nvSpPr>
        <p:spPr>
          <a:xfrm>
            <a:off x="3922164" y="7204149"/>
            <a:ext cx="7617541" cy="405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 α=0.3 </a:t>
            </a:r>
            <a:r>
              <a:rPr lang="en-US" sz="90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</a:t>
            </a:r>
            <a:r>
              <a:rPr lang="en-US" sz="900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target_x/y</a:t>
            </a:r>
            <a:r>
              <a:rPr lang="en-US" sz="90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900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closeness </a:t>
            </a:r>
            <a:r>
              <a:rPr lang="en-US" sz="90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</a:t>
            </a:r>
            <a:r>
              <a:rPr lang="en-US" sz="900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bbox </a:t>
            </a:r>
            <a:r>
              <a:rPr lang="en-US" sz="90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del derivative term → kill jitter </a:t>
            </a:r>
            <a:r>
              <a:rPr lang="en-US" sz="9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±5 px </a:t>
            </a:r>
            <a:r>
              <a:rPr lang="en-US" sz="90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YOLO. Anti-windup en el integral. RC loop a </a:t>
            </a:r>
            <a:r>
              <a:rPr lang="en-US" sz="9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Hz </a:t>
            </a:r>
            <a:r>
              <a:rPr lang="en-US" sz="90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900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RC_LOOP_INTERVAL_S = 0.05</a:t>
            </a:r>
            <a:r>
              <a:rPr lang="en-US" sz="90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EC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609487" y="933036"/>
            <a:ext cx="14441658" cy="582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200" b="1" kern="0" spc="-147" dirty="0" err="1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Algoritmo</a:t>
            </a:r>
            <a:r>
              <a:rPr lang="en-US" sz="4200" b="1" kern="0" spc="-147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4200" b="1" kern="0" spc="-147" dirty="0" err="1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búsqueda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09487" y="1534018"/>
            <a:ext cx="14021027" cy="2290347"/>
          </a:xfrm>
          <a:prstGeom prst="roundRect">
            <a:avLst>
              <a:gd name="adj" fmla="val 9149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69156" y="1793686"/>
            <a:ext cx="13906738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126" dirty="0">
                <a:solidFill>
                  <a:srgbClr val="8B8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FSM · 3 ESTADOS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69156" y="2079059"/>
            <a:ext cx="3232641" cy="926420"/>
          </a:xfrm>
          <a:prstGeom prst="roundRect">
            <a:avLst>
              <a:gd name="adj" fmla="val 14394"/>
            </a:avLst>
          </a:prstGeom>
          <a:solidFill>
            <a:srgbClr val="F6F6F7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1033576" y="2224390"/>
            <a:ext cx="2990916" cy="1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· 01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1033576" y="2402416"/>
            <a:ext cx="2990916" cy="247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b="1" kern="0" spc="-4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033576" y="2687975"/>
            <a:ext cx="2990916" cy="210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visible </a:t>
            </a:r>
            <a:r>
              <a:rPr lang="en-US" sz="900" b="1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900" b="1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 intercept; sin target arranca FSM.</a:t>
            </a:r>
            <a:endParaRPr lang="en-US" sz="900" b="1" dirty="0"/>
          </a:p>
        </p:txBody>
      </p:sp>
      <p:sp>
        <p:nvSpPr>
          <p:cNvPr id="13" name="Text 11"/>
          <p:cNvSpPr/>
          <p:nvPr/>
        </p:nvSpPr>
        <p:spPr>
          <a:xfrm>
            <a:off x="4101798" y="2079059"/>
            <a:ext cx="361761" cy="96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387359" y="2079059"/>
            <a:ext cx="4525698" cy="926420"/>
          </a:xfrm>
          <a:prstGeom prst="roundRect">
            <a:avLst>
              <a:gd name="adj" fmla="val 14394"/>
            </a:avLst>
          </a:prstGeom>
          <a:solidFill>
            <a:srgbClr val="0B0B0D"/>
          </a:solidFill>
          <a:ln w="12095">
            <a:solidFill>
              <a:srgbClr val="0B0B0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4551778" y="2224390"/>
            <a:ext cx="4322764" cy="1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· 02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551778" y="2402416"/>
            <a:ext cx="4322764" cy="247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b="1" kern="0" spc="-4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551778" y="2687975"/>
            <a:ext cx="4322764" cy="210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acumula yaw hasta </a:t>
            </a: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360° </a:t>
            </a: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50°/s</a:t>
            </a: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transita a advance al cerrar la vuelta.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913057" y="2079059"/>
            <a:ext cx="361761" cy="96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98618" y="2079059"/>
            <a:ext cx="5172226" cy="926420"/>
          </a:xfrm>
          <a:prstGeom prst="roundRect">
            <a:avLst>
              <a:gd name="adj" fmla="val 14394"/>
            </a:avLst>
          </a:prstGeom>
          <a:solidFill>
            <a:srgbClr val="F6F6F7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9363037" y="2224390"/>
            <a:ext cx="4988689" cy="1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· 03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9363037" y="2402416"/>
            <a:ext cx="4988689" cy="247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b="1" kern="0" spc="-4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9363037" y="2687975"/>
            <a:ext cx="4988689" cy="210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PID hasta </a:t>
            </a:r>
            <a:r>
              <a:rPr lang="en-US" sz="900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|95 − tof| &lt; 15 </a:t>
            </a:r>
            <a:r>
              <a:rPr lang="en-US" sz="90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cm, o timeout </a:t>
            </a:r>
            <a:r>
              <a:rPr lang="en-US" sz="900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s</a:t>
            </a:r>
            <a:r>
              <a:rPr lang="en-US" sz="90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 cap </a:t>
            </a:r>
            <a:r>
              <a:rPr lang="en-US" sz="900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cm</a:t>
            </a:r>
            <a:r>
              <a:rPr lang="en-US" sz="90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Sweep </a:t>
            </a:r>
            <a:r>
              <a:rPr lang="en-US" sz="900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±20° </a:t>
            </a:r>
            <a:r>
              <a:rPr lang="en-US" sz="90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2 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9487" y="3995775"/>
            <a:ext cx="6962888" cy="1195539"/>
          </a:xfrm>
          <a:prstGeom prst="roundRect">
            <a:avLst>
              <a:gd name="adj" fmla="val 11154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1173616" y="4285489"/>
            <a:ext cx="2831788" cy="173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Ceiling / floor clamp</a:t>
            </a:r>
            <a:endParaRPr lang="en-US" sz="2000" b="1" dirty="0"/>
          </a:p>
        </p:txBody>
      </p:sp>
      <p:sp>
        <p:nvSpPr>
          <p:cNvPr id="31" name="Text 29"/>
          <p:cNvSpPr/>
          <p:nvPr/>
        </p:nvSpPr>
        <p:spPr>
          <a:xfrm>
            <a:off x="5486031" y="4359615"/>
            <a:ext cx="1948657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B0B0D"/>
                </a:solidFill>
                <a:latin typeface="Arial Black" panose="020B0A04020102020204" pitchFamily="34" charset="0"/>
                <a:ea typeface="Courier New" pitchFamily="34" charset="-122"/>
                <a:cs typeface="Courier New" pitchFamily="34" charset="-120"/>
              </a:rPr>
              <a:t>180 / 30 cm</a:t>
            </a:r>
            <a:endParaRPr lang="en-US" sz="2000" dirty="0">
              <a:latin typeface="Arial Black" panose="020B0A0402010202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667436" y="3995775"/>
            <a:ext cx="6963078" cy="1195539"/>
          </a:xfrm>
          <a:prstGeom prst="roundRect">
            <a:avLst>
              <a:gd name="adj" fmla="val 11154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8231566" y="4285489"/>
            <a:ext cx="2339871" cy="173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 stop frontal</a:t>
            </a:r>
            <a:endParaRPr lang="en-US" sz="2000" b="1" dirty="0"/>
          </a:p>
        </p:txBody>
      </p:sp>
      <p:sp>
        <p:nvSpPr>
          <p:cNvPr id="37" name="Text 35"/>
          <p:cNvSpPr/>
          <p:nvPr/>
        </p:nvSpPr>
        <p:spPr>
          <a:xfrm>
            <a:off x="13192045" y="4359615"/>
            <a:ext cx="1300781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B0B0D"/>
                </a:solidFill>
                <a:latin typeface="Arial Black" panose="020B0A04020102020204" pitchFamily="34" charset="0"/>
                <a:ea typeface="Courier New" pitchFamily="34" charset="-122"/>
                <a:cs typeface="Courier New" pitchFamily="34" charset="-120"/>
              </a:rPr>
              <a:t>≤ 60 cm</a:t>
            </a:r>
            <a:endParaRPr lang="en-US" sz="2000" dirty="0">
              <a:latin typeface="Arial Black" panose="020B0A04020102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09487" y="5286375"/>
            <a:ext cx="6962888" cy="1195539"/>
          </a:xfrm>
          <a:prstGeom prst="roundRect">
            <a:avLst>
              <a:gd name="adj" fmla="val 11154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754818" y="5722181"/>
            <a:ext cx="399937" cy="361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173616" y="5576089"/>
            <a:ext cx="2786240" cy="173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Discontinuity freeze</a:t>
            </a:r>
            <a:endParaRPr lang="en-US" sz="2000" b="1" dirty="0"/>
          </a:p>
        </p:txBody>
      </p:sp>
      <p:sp>
        <p:nvSpPr>
          <p:cNvPr id="43" name="Text 41"/>
          <p:cNvSpPr/>
          <p:nvPr/>
        </p:nvSpPr>
        <p:spPr>
          <a:xfrm>
            <a:off x="6458050" y="5650211"/>
            <a:ext cx="976638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B0B0D"/>
                </a:solidFill>
                <a:latin typeface="Arial Black" panose="020B0A04020102020204" pitchFamily="34" charset="0"/>
                <a:ea typeface="Courier New" pitchFamily="34" charset="-122"/>
                <a:cs typeface="Courier New" pitchFamily="34" charset="-120"/>
              </a:rPr>
              <a:t>0.5 s</a:t>
            </a:r>
            <a:endParaRPr lang="en-US" sz="2000" dirty="0">
              <a:latin typeface="Arial Black" panose="020B0A04020102020204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7667436" y="5286375"/>
            <a:ext cx="6963078" cy="1195539"/>
          </a:xfrm>
          <a:prstGeom prst="roundRect">
            <a:avLst>
              <a:gd name="adj" fmla="val 11154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5"/>
          <p:cNvSpPr/>
          <p:nvPr/>
        </p:nvSpPr>
        <p:spPr>
          <a:xfrm>
            <a:off x="8231566" y="5576089"/>
            <a:ext cx="3437116" cy="173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miss hysteresis</a:t>
            </a:r>
            <a:endParaRPr lang="en-US" sz="2000" b="1" dirty="0"/>
          </a:p>
        </p:txBody>
      </p:sp>
      <p:sp>
        <p:nvSpPr>
          <p:cNvPr id="49" name="Text 47"/>
          <p:cNvSpPr/>
          <p:nvPr/>
        </p:nvSpPr>
        <p:spPr>
          <a:xfrm>
            <a:off x="12867901" y="5650211"/>
            <a:ext cx="1624925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B0B0D"/>
                </a:solidFill>
                <a:latin typeface="Arial Black" panose="020B0A04020102020204" pitchFamily="34" charset="0"/>
                <a:ea typeface="Courier New" pitchFamily="34" charset="-122"/>
                <a:cs typeface="Courier New" pitchFamily="34" charset="-120"/>
              </a:rPr>
              <a:t>45 frames</a:t>
            </a:r>
            <a:endParaRPr lang="en-US" sz="2000" dirty="0">
              <a:latin typeface="Arial Black" panose="020B0A04020102020204" pitchFamily="34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4731166" y="6599768"/>
            <a:ext cx="6963078" cy="1195539"/>
          </a:xfrm>
          <a:prstGeom prst="roundRect">
            <a:avLst>
              <a:gd name="adj" fmla="val 11154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8" name="Text 56"/>
          <p:cNvSpPr/>
          <p:nvPr/>
        </p:nvSpPr>
        <p:spPr>
          <a:xfrm>
            <a:off x="4876498" y="7035574"/>
            <a:ext cx="399937" cy="361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5209703" y="6989855"/>
            <a:ext cx="3884234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source hysteresis</a:t>
            </a:r>
            <a:endParaRPr lang="en-US" sz="2000" dirty="0"/>
          </a:p>
        </p:txBody>
      </p:sp>
      <p:sp>
        <p:nvSpPr>
          <p:cNvPr id="61" name="Text 59"/>
          <p:cNvSpPr/>
          <p:nvPr/>
        </p:nvSpPr>
        <p:spPr>
          <a:xfrm>
            <a:off x="9931632" y="7061276"/>
            <a:ext cx="1617282" cy="2469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B0B0D"/>
                </a:solidFill>
                <a:latin typeface="Arial Black" panose="020B0A04020102020204" pitchFamily="34" charset="0"/>
                <a:ea typeface="Courier New" pitchFamily="34" charset="-122"/>
                <a:cs typeface="Courier New" pitchFamily="34" charset="-120"/>
              </a:rPr>
              <a:t>3 frames</a:t>
            </a:r>
            <a:endParaRPr lang="en-US" sz="20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EC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87" y="533326"/>
            <a:ext cx="245533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126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2057" y="533326"/>
            <a:ext cx="160867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960" y="533326"/>
            <a:ext cx="1937355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WEBAPP · MULTI-CLIENTE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09487" y="933036"/>
            <a:ext cx="14441658" cy="582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200" b="1" kern="0" spc="-147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WebApp Dashboard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09487" y="1534018"/>
            <a:ext cx="6896176" cy="5594426"/>
          </a:xfrm>
          <a:prstGeom prst="roundRect">
            <a:avLst>
              <a:gd name="adj" fmla="val 3065"/>
            </a:avLst>
          </a:prstGeom>
          <a:solidFill>
            <a:srgbClr val="0B0B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685649" y="1610176"/>
            <a:ext cx="6743851" cy="5442102"/>
          </a:xfrm>
          <a:prstGeom prst="roundRect">
            <a:avLst>
              <a:gd name="adj" fmla="val 2100"/>
            </a:avLst>
          </a:prstGeom>
          <a:solidFill>
            <a:srgbClr val="ECECEE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649" y="1610176"/>
            <a:ext cx="6743851" cy="54421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61811" y="1686339"/>
            <a:ext cx="171412" cy="12095"/>
          </a:xfrm>
          <a:prstGeom prst="rect">
            <a:avLst/>
          </a:prstGeom>
          <a:solidFill>
            <a:srgbClr val="00B65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761811" y="1686339"/>
            <a:ext cx="12095" cy="171412"/>
          </a:xfrm>
          <a:prstGeom prst="rect">
            <a:avLst/>
          </a:prstGeom>
          <a:solidFill>
            <a:srgbClr val="00B65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7181926" y="1686339"/>
            <a:ext cx="171412" cy="12095"/>
          </a:xfrm>
          <a:prstGeom prst="rect">
            <a:avLst/>
          </a:prstGeom>
          <a:solidFill>
            <a:srgbClr val="00B65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7341243" y="1686339"/>
            <a:ext cx="12095" cy="171412"/>
          </a:xfrm>
          <a:prstGeom prst="rect">
            <a:avLst/>
          </a:prstGeom>
          <a:solidFill>
            <a:srgbClr val="00B65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761811" y="6964023"/>
            <a:ext cx="171412" cy="12095"/>
          </a:xfrm>
          <a:prstGeom prst="rect">
            <a:avLst/>
          </a:prstGeom>
          <a:solidFill>
            <a:srgbClr val="00B65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Shape 12"/>
          <p:cNvSpPr/>
          <p:nvPr/>
        </p:nvSpPr>
        <p:spPr>
          <a:xfrm>
            <a:off x="761811" y="6804706"/>
            <a:ext cx="12095" cy="171412"/>
          </a:xfrm>
          <a:prstGeom prst="rect">
            <a:avLst/>
          </a:prstGeom>
          <a:solidFill>
            <a:srgbClr val="00B65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7181926" y="6964023"/>
            <a:ext cx="171412" cy="12095"/>
          </a:xfrm>
          <a:prstGeom prst="rect">
            <a:avLst/>
          </a:prstGeom>
          <a:solidFill>
            <a:srgbClr val="00B65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7341243" y="6804706"/>
            <a:ext cx="12095" cy="171412"/>
          </a:xfrm>
          <a:prstGeom prst="rect">
            <a:avLst/>
          </a:prstGeom>
          <a:solidFill>
            <a:srgbClr val="00B65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609487" y="7242590"/>
            <a:ext cx="7103061" cy="410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13" b="1" dirty="0" err="1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</a:t>
            </a:r>
            <a:r>
              <a:rPr lang="en-US" sz="1013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13" b="1" dirty="0" err="1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013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13" b="1" dirty="0" err="1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</a:t>
            </a:r>
            <a:r>
              <a:rPr lang="en-US" sz="1013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PC del </a:t>
            </a:r>
            <a:r>
              <a:rPr lang="en-US" sz="1013" b="1" dirty="0" err="1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estación</a:t>
            </a:r>
            <a:r>
              <a:rPr lang="en-US" sz="1013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tierra </a:t>
            </a:r>
            <a:r>
              <a:rPr lang="en-US" sz="1013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</a:t>
            </a:r>
            <a:r>
              <a:rPr lang="en-US" sz="1013" dirty="0" err="1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013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13" b="1" dirty="0" err="1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múltiples</a:t>
            </a:r>
            <a:r>
              <a:rPr lang="en-US" sz="1013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13" b="1" dirty="0" err="1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móviles</a:t>
            </a:r>
            <a:r>
              <a:rPr lang="en-US" sz="1013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13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 </a:t>
            </a:r>
            <a:r>
              <a:rPr lang="en-US" sz="1013" dirty="0" err="1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vez</a:t>
            </a:r>
            <a:r>
              <a:rPr lang="en-US" sz="1013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13" dirty="0"/>
          </a:p>
        </p:txBody>
      </p:sp>
      <p:sp>
        <p:nvSpPr>
          <p:cNvPr id="23" name="Shape 20"/>
          <p:cNvSpPr/>
          <p:nvPr/>
        </p:nvSpPr>
        <p:spPr>
          <a:xfrm>
            <a:off x="3440340" y="7846028"/>
            <a:ext cx="76162" cy="76162"/>
          </a:xfrm>
          <a:prstGeom prst="ellipse">
            <a:avLst/>
          </a:prstGeom>
          <a:solidFill>
            <a:srgbClr val="B5B5B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Shape 23"/>
          <p:cNvSpPr/>
          <p:nvPr/>
        </p:nvSpPr>
        <p:spPr>
          <a:xfrm>
            <a:off x="5959362" y="7846028"/>
            <a:ext cx="76162" cy="76162"/>
          </a:xfrm>
          <a:prstGeom prst="ellipse">
            <a:avLst/>
          </a:prstGeom>
          <a:solidFill>
            <a:srgbClr val="B5B5B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3" name="Shape 25"/>
          <p:cNvSpPr/>
          <p:nvPr/>
        </p:nvSpPr>
        <p:spPr>
          <a:xfrm>
            <a:off x="7712548" y="1523434"/>
            <a:ext cx="6896365" cy="5662083"/>
          </a:xfrm>
          <a:prstGeom prst="roundRect">
            <a:avLst>
              <a:gd name="adj" fmla="val 3028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Text 27">
            <a:extLst>
              <a:ext uri="{FF2B5EF4-FFF2-40B4-BE49-F238E27FC236}">
                <a16:creationId xmlns:a16="http://schemas.microsoft.com/office/drawing/2014/main" id="{E1F20354-3A60-36A5-11A7-D482893A172D}"/>
              </a:ext>
            </a:extLst>
          </p:cNvPr>
          <p:cNvSpPr/>
          <p:nvPr/>
        </p:nvSpPr>
        <p:spPr>
          <a:xfrm>
            <a:off x="608552" y="7470099"/>
            <a:ext cx="3414808" cy="297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Claude.ai/design</a:t>
            </a:r>
            <a:endParaRPr lang="en-US" sz="2000" b="1" dirty="0"/>
          </a:p>
        </p:txBody>
      </p:sp>
      <p:sp>
        <p:nvSpPr>
          <p:cNvPr id="55" name="Text 27">
            <a:extLst>
              <a:ext uri="{FF2B5EF4-FFF2-40B4-BE49-F238E27FC236}">
                <a16:creationId xmlns:a16="http://schemas.microsoft.com/office/drawing/2014/main" id="{0A829E2C-8D0D-71B5-38D3-B4C8E37C0FA6}"/>
              </a:ext>
            </a:extLst>
          </p:cNvPr>
          <p:cNvSpPr/>
          <p:nvPr/>
        </p:nvSpPr>
        <p:spPr>
          <a:xfrm>
            <a:off x="609487" y="7880884"/>
            <a:ext cx="2831788" cy="173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Claude code</a:t>
            </a:r>
            <a:endParaRPr lang="en-US" sz="2000" b="1" dirty="0"/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1C842199-DB25-B8CB-4B9A-ACCF7500A010}"/>
              </a:ext>
            </a:extLst>
          </p:cNvPr>
          <p:cNvSpPr/>
          <p:nvPr/>
        </p:nvSpPr>
        <p:spPr>
          <a:xfrm>
            <a:off x="9610706" y="2491740"/>
            <a:ext cx="3143250" cy="2082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Portátil </a:t>
            </a:r>
          </a:p>
          <a:p>
            <a:pPr algn="ctr"/>
            <a:r>
              <a:rPr lang="es-ES" dirty="0"/>
              <a:t>Estación de tierra</a:t>
            </a: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4CA3C722-9ADA-FCB1-D8B8-323F4C6A782A}"/>
              </a:ext>
            </a:extLst>
          </p:cNvPr>
          <p:cNvSpPr/>
          <p:nvPr/>
        </p:nvSpPr>
        <p:spPr>
          <a:xfrm>
            <a:off x="9905992" y="4117181"/>
            <a:ext cx="776287" cy="21431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main.py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57DEE616-9DBA-8E08-9BDC-8D97A60959C4}"/>
              </a:ext>
            </a:extLst>
          </p:cNvPr>
          <p:cNvSpPr/>
          <p:nvPr/>
        </p:nvSpPr>
        <p:spPr>
          <a:xfrm>
            <a:off x="11510962" y="4233560"/>
            <a:ext cx="900113" cy="294742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err="1"/>
              <a:t>WebApp</a:t>
            </a:r>
            <a:endParaRPr lang="es-ES" sz="1400" dirty="0"/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03DEC08A-19C2-351F-7747-1682454B19C5}"/>
              </a:ext>
            </a:extLst>
          </p:cNvPr>
          <p:cNvSpPr/>
          <p:nvPr/>
        </p:nvSpPr>
        <p:spPr>
          <a:xfrm>
            <a:off x="11313313" y="3902642"/>
            <a:ext cx="1369225" cy="21431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err="1"/>
              <a:t>TelloInterceptor</a:t>
            </a:r>
            <a:endParaRPr lang="es-ES" sz="1400" dirty="0"/>
          </a:p>
        </p:txBody>
      </p:sp>
      <p:cxnSp>
        <p:nvCxnSpPr>
          <p:cNvPr id="61" name="Conector recto de flecha 60">
            <a:extLst>
              <a:ext uri="{FF2B5EF4-FFF2-40B4-BE49-F238E27FC236}">
                <a16:creationId xmlns:a16="http://schemas.microsoft.com/office/drawing/2014/main" id="{F9322061-7E13-5EAB-D7C5-3494A31DB33A}"/>
              </a:ext>
            </a:extLst>
          </p:cNvPr>
          <p:cNvCxnSpPr>
            <a:stCxn id="57" idx="3"/>
            <a:endCxn id="59" idx="1"/>
          </p:cNvCxnSpPr>
          <p:nvPr/>
        </p:nvCxnSpPr>
        <p:spPr>
          <a:xfrm flipV="1">
            <a:off x="10682279" y="4009799"/>
            <a:ext cx="631034" cy="2145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A18883A7-DE75-D565-6EB5-1188EBC40F59}"/>
              </a:ext>
            </a:extLst>
          </p:cNvPr>
          <p:cNvCxnSpPr>
            <a:stCxn id="57" idx="3"/>
            <a:endCxn id="58" idx="1"/>
          </p:cNvCxnSpPr>
          <p:nvPr/>
        </p:nvCxnSpPr>
        <p:spPr>
          <a:xfrm>
            <a:off x="10682279" y="4224338"/>
            <a:ext cx="828683" cy="1565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5" name="Imagen 64" descr="Imagen en blanco y negro&#10;&#10;El contenido generado por IA puede ser incorrecto.">
            <a:extLst>
              <a:ext uri="{FF2B5EF4-FFF2-40B4-BE49-F238E27FC236}">
                <a16:creationId xmlns:a16="http://schemas.microsoft.com/office/drawing/2014/main" id="{A7C5FA85-35E0-C86B-0A13-CF117C1D93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2809830" y="3549952"/>
            <a:ext cx="302021" cy="268398"/>
          </a:xfrm>
          <a:prstGeom prst="rect">
            <a:avLst/>
          </a:prstGeom>
        </p:spPr>
      </p:pic>
      <p:pic>
        <p:nvPicPr>
          <p:cNvPr id="66" name="Imagen 65" descr="Juguete de plástico sobre una mesa&#10;&#10;El contenido generado por IA puede ser incorrecto.">
            <a:extLst>
              <a:ext uri="{FF2B5EF4-FFF2-40B4-BE49-F238E27FC236}">
                <a16:creationId xmlns:a16="http://schemas.microsoft.com/office/drawing/2014/main" id="{70B471C6-1F1A-0273-0EB5-73B382CA5D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13572" y="3218806"/>
            <a:ext cx="1029823" cy="930690"/>
          </a:xfrm>
          <a:prstGeom prst="rect">
            <a:avLst/>
          </a:prstGeom>
        </p:spPr>
      </p:pic>
      <p:sp>
        <p:nvSpPr>
          <p:cNvPr id="67" name="Rectángulo 66">
            <a:extLst>
              <a:ext uri="{FF2B5EF4-FFF2-40B4-BE49-F238E27FC236}">
                <a16:creationId xmlns:a16="http://schemas.microsoft.com/office/drawing/2014/main" id="{CB58E4C1-BA6A-A5A8-7D2E-64A0C372C9AF}"/>
              </a:ext>
            </a:extLst>
          </p:cNvPr>
          <p:cNvSpPr/>
          <p:nvPr/>
        </p:nvSpPr>
        <p:spPr>
          <a:xfrm>
            <a:off x="13510598" y="4133623"/>
            <a:ext cx="629862" cy="3575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Tello</a:t>
            </a:r>
          </a:p>
        </p:txBody>
      </p:sp>
      <p:sp>
        <p:nvSpPr>
          <p:cNvPr id="69" name="Rectángulo: esquinas redondeadas 68">
            <a:extLst>
              <a:ext uri="{FF2B5EF4-FFF2-40B4-BE49-F238E27FC236}">
                <a16:creationId xmlns:a16="http://schemas.microsoft.com/office/drawing/2014/main" id="{9CE3B8E8-4103-1A64-2EAF-0746CBD53285}"/>
              </a:ext>
            </a:extLst>
          </p:cNvPr>
          <p:cNvSpPr/>
          <p:nvPr/>
        </p:nvSpPr>
        <p:spPr>
          <a:xfrm>
            <a:off x="7914718" y="4116955"/>
            <a:ext cx="1360240" cy="12573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Móvil </a:t>
            </a:r>
          </a:p>
          <a:p>
            <a:pPr algn="ctr"/>
            <a:r>
              <a:rPr lang="es-ES" dirty="0"/>
              <a:t>con </a:t>
            </a:r>
            <a:r>
              <a:rPr lang="es-ES" dirty="0" err="1"/>
              <a:t>hotspot</a:t>
            </a:r>
            <a:endParaRPr lang="es-ES" dirty="0"/>
          </a:p>
        </p:txBody>
      </p:sp>
      <p:cxnSp>
        <p:nvCxnSpPr>
          <p:cNvPr id="75" name="Conector: angular 74">
            <a:extLst>
              <a:ext uri="{FF2B5EF4-FFF2-40B4-BE49-F238E27FC236}">
                <a16:creationId xmlns:a16="http://schemas.microsoft.com/office/drawing/2014/main" id="{A5A43726-E7DD-1263-5360-44535B64CE61}"/>
              </a:ext>
            </a:extLst>
          </p:cNvPr>
          <p:cNvCxnSpPr>
            <a:stCxn id="69" idx="0"/>
            <a:endCxn id="56" idx="1"/>
          </p:cNvCxnSpPr>
          <p:nvPr/>
        </p:nvCxnSpPr>
        <p:spPr>
          <a:xfrm rot="5400000" flipH="1" flipV="1">
            <a:off x="8810865" y="3317114"/>
            <a:ext cx="583815" cy="1015868"/>
          </a:xfrm>
          <a:prstGeom prst="bentConnector2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6" name="Imagen 75" descr="Imagen en blanco y negro&#10;&#10;El contenido generado por IA puede ser incorrecto.">
            <a:extLst>
              <a:ext uri="{FF2B5EF4-FFF2-40B4-BE49-F238E27FC236}">
                <a16:creationId xmlns:a16="http://schemas.microsoft.com/office/drawing/2014/main" id="{134E9D56-AD66-8449-22B4-4770468D8B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1208941" y="4745605"/>
            <a:ext cx="302021" cy="268398"/>
          </a:xfrm>
          <a:prstGeom prst="rect">
            <a:avLst/>
          </a:prstGeom>
        </p:spPr>
      </p:pic>
      <p:sp>
        <p:nvSpPr>
          <p:cNvPr id="77" name="Rectángulo: esquinas redondeadas 76">
            <a:extLst>
              <a:ext uri="{FF2B5EF4-FFF2-40B4-BE49-F238E27FC236}">
                <a16:creationId xmlns:a16="http://schemas.microsoft.com/office/drawing/2014/main" id="{860D392B-1F5B-DB33-90F6-AC5197F4081D}"/>
              </a:ext>
            </a:extLst>
          </p:cNvPr>
          <p:cNvSpPr/>
          <p:nvPr/>
        </p:nvSpPr>
        <p:spPr>
          <a:xfrm>
            <a:off x="10706091" y="5282180"/>
            <a:ext cx="1360240" cy="8104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WebApp</a:t>
            </a:r>
            <a:endParaRPr lang="es-E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853</Words>
  <Application>Microsoft Office PowerPoint</Application>
  <PresentationFormat>Personalizado</PresentationFormat>
  <Paragraphs>177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Courier New</vt:lpstr>
      <vt:lpstr>Tomorrow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Pedro Fiol</cp:lastModifiedBy>
  <cp:revision>3</cp:revision>
  <dcterms:created xsi:type="dcterms:W3CDTF">2026-05-26T20:12:05Z</dcterms:created>
  <dcterms:modified xsi:type="dcterms:W3CDTF">2026-05-27T06:07:40Z</dcterms:modified>
</cp:coreProperties>
</file>